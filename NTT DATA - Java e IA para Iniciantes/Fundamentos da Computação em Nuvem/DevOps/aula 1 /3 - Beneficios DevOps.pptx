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9"/>
  </p:notesMasterIdLst>
  <p:sldIdLst>
    <p:sldId id="265" r:id="rId5"/>
    <p:sldId id="292" r:id="rId6"/>
    <p:sldId id="293" r:id="rId7"/>
    <p:sldId id="294" r:id="rId8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Century Gothic" panose="020B0502020202020204" pitchFamily="3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7" roundtripDataSignature="AMtx7mhwFzdV1RQWT0+yRhKLCIJdYxHt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4.fntdata"/><Relationship Id="rId39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38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7.fntdata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2.fntdata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17554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73422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4834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109ffa863cd_0_2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09ffa863cd_0_24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g109ffa863cd_0_24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g109ffa863cd_0_2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9ffa863cd_0_2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g109ffa863cd_0_2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09ffa863cd_0_2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109ffa863cd_0_2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g109ffa863cd_0_2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09ffa863cd_0_2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09ffa863cd_0_2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109ffa863cd_0_2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109ffa863cd_0_2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9ffa863cd_0_26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g109ffa863cd_0_26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109ffa863cd_0_2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9ffa863cd_0_26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g109ffa863cd_0_2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9ffa863cd_0_2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09ffa863cd_0_27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g109ffa863cd_0_27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g109ffa863cd_0_27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g109ffa863cd_0_2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9ffa863cd_0_27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109ffa863cd_0_2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09ffa863cd_0_27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109ffa863cd_0_27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09ffa863cd_0_2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09ffa863cd_0_2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109ffa863cd_0_2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g109ffa863cd_0_240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127425" y="119987"/>
            <a:ext cx="851525" cy="3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g109ffa863cd_0_2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"/>
          <p:cNvSpPr txBox="1"/>
          <p:nvPr/>
        </p:nvSpPr>
        <p:spPr>
          <a:xfrm>
            <a:off x="565523" y="3874338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400" b="1" dirty="0">
                <a:solidFill>
                  <a:srgbClr val="A5A5A5"/>
                </a:solidFill>
                <a:latin typeface="Calibri"/>
                <a:cs typeface="Calibri"/>
                <a:sym typeface="Calibri"/>
              </a:rPr>
              <a:t>DevOps Fundamentals</a:t>
            </a:r>
          </a:p>
          <a:p>
            <a:r>
              <a:rPr lang="en-US" sz="2000" dirty="0">
                <a:solidFill>
                  <a:srgbClr val="A5A5A5"/>
                </a:solidFill>
                <a:latin typeface="Calibri"/>
                <a:cs typeface="Calibri"/>
                <a:sym typeface="Calibri"/>
              </a:rPr>
              <a:t>Alexsandro Lechner</a:t>
            </a:r>
            <a:r>
              <a:rPr lang="en-US" sz="2400" dirty="0">
                <a:solidFill>
                  <a:srgbClr val="A5A5A5"/>
                </a:solidFill>
                <a:latin typeface="Calibri"/>
                <a:cs typeface="Calibri"/>
                <a:sym typeface="Calibri"/>
              </a:rPr>
              <a:t> </a:t>
            </a:r>
            <a:endParaRPr lang="pt-BR" dirty="0"/>
          </a:p>
        </p:txBody>
      </p:sp>
      <p:sp>
        <p:nvSpPr>
          <p:cNvPr id="195" name="Google Shape;195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Tema</a:t>
            </a:r>
            <a:endParaRPr sz="24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Benefícios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do DevOps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pic>
        <p:nvPicPr>
          <p:cNvPr id="197" name="Google Shape;19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A1964B6-F15C-06B4-C0D3-8148BB26F7DE}"/>
              </a:ext>
            </a:extLst>
          </p:cNvPr>
          <p:cNvGrpSpPr/>
          <p:nvPr/>
        </p:nvGrpSpPr>
        <p:grpSpPr>
          <a:xfrm>
            <a:off x="671660" y="4443062"/>
            <a:ext cx="1748642" cy="398700"/>
            <a:chOff x="3899066" y="4462016"/>
            <a:chExt cx="1748642" cy="398700"/>
          </a:xfrm>
        </p:grpSpPr>
        <p:pic>
          <p:nvPicPr>
            <p:cNvPr id="3" name="Picture 2" descr="Icon&#10;&#10;Description automatically generated">
              <a:extLst>
                <a:ext uri="{FF2B5EF4-FFF2-40B4-BE49-F238E27FC236}">
                  <a16:creationId xmlns:a16="http://schemas.microsoft.com/office/drawing/2014/main" id="{F96448E7-58D9-CBFC-8973-DCFA8A84A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99066" y="4547507"/>
              <a:ext cx="290695" cy="290695"/>
            </a:xfrm>
            <a:prstGeom prst="rect">
              <a:avLst/>
            </a:prstGeom>
          </p:spPr>
        </p:pic>
        <p:sp>
          <p:nvSpPr>
            <p:cNvPr id="4" name="Google Shape;194;p5">
              <a:extLst>
                <a:ext uri="{FF2B5EF4-FFF2-40B4-BE49-F238E27FC236}">
                  <a16:creationId xmlns:a16="http://schemas.microsoft.com/office/drawing/2014/main" id="{2F74E707-5F49-4487-4C01-EAE6851CF06F}"/>
                </a:ext>
              </a:extLst>
            </p:cNvPr>
            <p:cNvSpPr txBox="1"/>
            <p:nvPr/>
          </p:nvSpPr>
          <p:spPr>
            <a:xfrm>
              <a:off x="4124447" y="4462016"/>
              <a:ext cx="1523261" cy="39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dirty="0" err="1">
                  <a:solidFill>
                    <a:srgbClr val="A5A5A5"/>
                  </a:solidFill>
                  <a:latin typeface="Calibri"/>
                  <a:cs typeface="Calibri"/>
                  <a:sym typeface="Calibri"/>
                </a:rPr>
                <a:t>alexsandrolechner</a:t>
              </a:r>
              <a:endParaRPr lang="pt-BR" sz="1000" dirty="0"/>
            </a:p>
          </p:txBody>
        </p:sp>
      </p:grpSp>
      <p:pic>
        <p:nvPicPr>
          <p:cNvPr id="2" name="Picture 1" descr="A picture containing qr code&#10;&#10;Description automatically generated">
            <a:extLst>
              <a:ext uri="{FF2B5EF4-FFF2-40B4-BE49-F238E27FC236}">
                <a16:creationId xmlns:a16="http://schemas.microsoft.com/office/drawing/2014/main" id="{41C3A84F-0F18-C71A-77F3-F6FBA98FFE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9461" y="4097996"/>
            <a:ext cx="1445078" cy="7311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Beneficios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do DevOps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A36547-BC5B-0FA9-93EE-66AF644386F3}"/>
              </a:ext>
            </a:extLst>
          </p:cNvPr>
          <p:cNvSpPr txBox="1"/>
          <p:nvPr/>
        </p:nvSpPr>
        <p:spPr>
          <a:xfrm>
            <a:off x="539884" y="1592392"/>
            <a:ext cx="8016900" cy="1173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lnSpc>
                <a:spcPct val="107000"/>
              </a:lnSpc>
              <a:spcAft>
                <a:spcPts val="800"/>
              </a:spcAft>
              <a:defRPr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b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PT" dirty="0"/>
              <a:t>As ferramentas para automação têm uma grande importância para o sucesso do DevOps, porém o principal desafio é criar uma cultura em que todos tornem-se comprometidos pela qualidade, desde o início do ciclo de vida do software até sua entrega em produção e monitoramento da experiência real do usuário. </a:t>
            </a:r>
            <a:endParaRPr lang="en-GB" dirty="0"/>
          </a:p>
          <a:p>
            <a:r>
              <a:rPr lang="pt-BR" dirty="0"/>
              <a:t>Várias empresas alcançaram com a jornada </a:t>
            </a:r>
            <a:r>
              <a:rPr lang="pt-BR" dirty="0" err="1"/>
              <a:t>DevOps</a:t>
            </a:r>
            <a:r>
              <a:rPr lang="pt-BR" dirty="0"/>
              <a:t> em vários países e segmentos de mercado.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973728-E1ED-8236-44CE-E82E57E3D6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459" y="3493548"/>
            <a:ext cx="5111750" cy="11664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680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Beneficios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do DevOps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/>
          </a:p>
        </p:txBody>
      </p:sp>
      <p:pic>
        <p:nvPicPr>
          <p:cNvPr id="5122" name="Picture 2" descr="How come Amazon deploys 23,000 times a day? What are they changing so  often? : r/devops">
            <a:extLst>
              <a:ext uri="{FF2B5EF4-FFF2-40B4-BE49-F238E27FC236}">
                <a16:creationId xmlns:a16="http://schemas.microsoft.com/office/drawing/2014/main" id="{391C2DFC-76B8-2164-F3C3-E21186DF73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031"/>
          <a:stretch/>
        </p:blipFill>
        <p:spPr bwMode="auto">
          <a:xfrm>
            <a:off x="1072243" y="1578027"/>
            <a:ext cx="6477000" cy="2251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2908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Beneficios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do DevOps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231ED02-C088-9654-22A1-7831901F25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5842045E-F890-F5F6-BE00-4B5CF0BDF3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7233208"/>
              </p:ext>
            </p:extLst>
          </p:nvPr>
        </p:nvGraphicFramePr>
        <p:xfrm>
          <a:off x="2220686" y="1395726"/>
          <a:ext cx="3314700" cy="36737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5269680" imgH="5828400" progId="Unknown">
                  <p:embed/>
                </p:oleObj>
              </mc:Choice>
              <mc:Fallback>
                <p:oleObj r:id="rId3" imgW="5269680" imgH="5828400" progId="Unknown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0686" y="1395726"/>
                        <a:ext cx="3314700" cy="367372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0468142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E48B58A68BE64E9120D347E3E06B3A" ma:contentTypeVersion="18" ma:contentTypeDescription="Create a new document." ma:contentTypeScope="" ma:versionID="8318531fd059d61dd4fee9b82b328379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afb8d3daeaef6f729f9f8c868fd80690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B36EE4A-77CB-40F8-99E6-2229B4F7F44C}">
  <ds:schemaRefs>
    <ds:schemaRef ds:uri="http://schemas.microsoft.com/office/2006/metadata/properties"/>
    <ds:schemaRef ds:uri="http://schemas.microsoft.com/office/infopath/2007/PartnerControls"/>
    <ds:schemaRef ds:uri="851b35d3-0456-4d6a-bc2f-da927e91d158"/>
    <ds:schemaRef ds:uri="19483571-f922-4e8e-9c1c-26f0a2252132"/>
  </ds:schemaRefs>
</ds:datastoreItem>
</file>

<file path=customXml/itemProps2.xml><?xml version="1.0" encoding="utf-8"?>
<ds:datastoreItem xmlns:ds="http://schemas.openxmlformats.org/officeDocument/2006/customXml" ds:itemID="{F42222EA-95A6-4A03-8019-C3F3BDAED62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CFAC131-27E3-44C9-84AD-EA891826296F}"/>
</file>

<file path=docProps/app.xml><?xml version="1.0" encoding="utf-8"?>
<Properties xmlns="http://schemas.openxmlformats.org/officeDocument/2006/extended-properties" xmlns:vt="http://schemas.openxmlformats.org/officeDocument/2006/docPropsVTypes">
  <TotalTime>8271</TotalTime>
  <Words>95</Words>
  <Application>Microsoft Office PowerPoint</Application>
  <PresentationFormat>On-screen Show (16:9)</PresentationFormat>
  <Paragraphs>13</Paragraphs>
  <Slides>4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Calibri</vt:lpstr>
      <vt:lpstr>Arial</vt:lpstr>
      <vt:lpstr>Century Gothic</vt:lpstr>
      <vt:lpstr>Simple Light</vt:lpstr>
      <vt:lpstr>Unknown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Larissa Mestieri</dc:creator>
  <cp:lastModifiedBy>Alexsandro Lechner</cp:lastModifiedBy>
  <cp:revision>90</cp:revision>
  <dcterms:modified xsi:type="dcterms:W3CDTF">2023-04-14T12:07:51Z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  <property fmtid="{D5CDD505-2E9C-101B-9397-08002B2CF9AE}" pid="3" name="MediaServiceImageTags">
    <vt:lpwstr/>
  </property>
</Properties>
</file>