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</p:sldMasterIdLst>
  <p:notesMasterIdLst>
    <p:notesMasterId r:id="rId24"/>
  </p:notesMasterIdLst>
  <p:sldIdLst>
    <p:sldId id="265" r:id="rId5"/>
    <p:sldId id="266" r:id="rId6"/>
    <p:sldId id="278" r:id="rId7"/>
    <p:sldId id="282" r:id="rId8"/>
    <p:sldId id="283" r:id="rId9"/>
    <p:sldId id="284" r:id="rId10"/>
    <p:sldId id="285" r:id="rId11"/>
    <p:sldId id="286" r:id="rId12"/>
    <p:sldId id="281" r:id="rId13"/>
    <p:sldId id="280" r:id="rId14"/>
    <p:sldId id="287" r:id="rId15"/>
    <p:sldId id="279" r:id="rId16"/>
    <p:sldId id="289" r:id="rId17"/>
    <p:sldId id="290" r:id="rId18"/>
    <p:sldId id="291" r:id="rId19"/>
    <p:sldId id="288" r:id="rId20"/>
    <p:sldId id="292" r:id="rId21"/>
    <p:sldId id="293" r:id="rId22"/>
    <p:sldId id="294" r:id="rId23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25"/>
      <p:bold r:id="rId26"/>
      <p:italic r:id="rId27"/>
      <p:boldItalic r:id="rId28"/>
    </p:embeddedFont>
    <p:embeddedFont>
      <p:font typeface="Century Gothic" panose="020B0502020202020204" pitchFamily="34" charset="0"/>
      <p:regular r:id="rId29"/>
      <p:bold r:id="rId30"/>
      <p:italic r:id="rId31"/>
      <p:boldItalic r:id="rId32"/>
    </p:embeddedFont>
    <p:embeddedFont>
      <p:font typeface="Segoe UI" panose="020B0502040204020203" pitchFamily="34" charset="0"/>
      <p:regular r:id="rId33"/>
      <p:bold r:id="rId34"/>
      <p:italic r:id="rId35"/>
      <p:boldItalic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7" roundtripDataSignature="AMtx7mhwFzdV1RQWT0+yRhKLCIJdYxHt+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CB474DA-191E-8C00-C54D-F91A7338F90F}" v="8" dt="2023-07-17T17:43:50.08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4" d="100"/>
          <a:sy n="94" d="100"/>
        </p:scale>
        <p:origin x="1066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2.fntdata"/><Relationship Id="rId39" Type="http://schemas.openxmlformats.org/officeDocument/2006/relationships/viewProps" Target="viewProps.xml"/><Relationship Id="rId21" Type="http://schemas.openxmlformats.org/officeDocument/2006/relationships/slide" Target="slides/slide17.xml"/><Relationship Id="rId34" Type="http://schemas.openxmlformats.org/officeDocument/2006/relationships/font" Target="fonts/font10.fntdata"/><Relationship Id="rId42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font" Target="fonts/font5.fntdata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37" Type="http://customschemas.google.com/relationships/presentationmetadata" Target="metadata"/><Relationship Id="rId40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font" Target="fonts/font4.fntdata"/><Relationship Id="rId36" Type="http://schemas.openxmlformats.org/officeDocument/2006/relationships/font" Target="fonts/font12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7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font" Target="fonts/font11.fntdata"/><Relationship Id="rId43" Type="http://schemas.microsoft.com/office/2015/10/relationships/revisionInfo" Target="revisionInfo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ubia Rossi Pavelqueires" userId="S::nubia@dio.me::9fb62b5b-6910-4da4-98ef-a6355beee27e" providerId="AD" clId="Web-{3CB474DA-191E-8C00-C54D-F91A7338F90F}"/>
    <pc:docChg chg="modSld">
      <pc:chgData name="Nubia Rossi Pavelqueires" userId="S::nubia@dio.me::9fb62b5b-6910-4da4-98ef-a6355beee27e" providerId="AD" clId="Web-{3CB474DA-191E-8C00-C54D-F91A7338F90F}" dt="2023-07-17T17:43:50.082" v="7" actId="1076"/>
      <pc:docMkLst>
        <pc:docMk/>
      </pc:docMkLst>
      <pc:sldChg chg="modSp">
        <pc:chgData name="Nubia Rossi Pavelqueires" userId="S::nubia@dio.me::9fb62b5b-6910-4da4-98ef-a6355beee27e" providerId="AD" clId="Web-{3CB474DA-191E-8C00-C54D-F91A7338F90F}" dt="2023-07-17T17:42:46.173" v="3" actId="1076"/>
        <pc:sldMkLst>
          <pc:docMk/>
          <pc:sldMk cId="2205795439" sldId="281"/>
        </pc:sldMkLst>
        <pc:spChg chg="mod">
          <ac:chgData name="Nubia Rossi Pavelqueires" userId="S::nubia@dio.me::9fb62b5b-6910-4da4-98ef-a6355beee27e" providerId="AD" clId="Web-{3CB474DA-191E-8C00-C54D-F91A7338F90F}" dt="2023-07-17T17:42:46.173" v="3" actId="1076"/>
          <ac:spMkLst>
            <pc:docMk/>
            <pc:sldMk cId="2205795439" sldId="281"/>
            <ac:spMk id="2" creationId="{654956A3-EBB4-D307-A784-25055DE996C3}"/>
          </ac:spMkLst>
        </pc:spChg>
        <pc:spChg chg="mod">
          <ac:chgData name="Nubia Rossi Pavelqueires" userId="S::nubia@dio.me::9fb62b5b-6910-4da4-98ef-a6355beee27e" providerId="AD" clId="Web-{3CB474DA-191E-8C00-C54D-F91A7338F90F}" dt="2023-07-17T17:42:35.438" v="2" actId="1076"/>
          <ac:spMkLst>
            <pc:docMk/>
            <pc:sldMk cId="2205795439" sldId="281"/>
            <ac:spMk id="203" creationId="{00000000-0000-0000-0000-000000000000}"/>
          </ac:spMkLst>
        </pc:spChg>
      </pc:sldChg>
      <pc:sldChg chg="modSp">
        <pc:chgData name="Nubia Rossi Pavelqueires" userId="S::nubia@dio.me::9fb62b5b-6910-4da4-98ef-a6355beee27e" providerId="AD" clId="Web-{3CB474DA-191E-8C00-C54D-F91A7338F90F}" dt="2023-07-17T17:42:03.734" v="1" actId="1076"/>
        <pc:sldMkLst>
          <pc:docMk/>
          <pc:sldMk cId="2863234112" sldId="282"/>
        </pc:sldMkLst>
        <pc:spChg chg="mod">
          <ac:chgData name="Nubia Rossi Pavelqueires" userId="S::nubia@dio.me::9fb62b5b-6910-4da4-98ef-a6355beee27e" providerId="AD" clId="Web-{3CB474DA-191E-8C00-C54D-F91A7338F90F}" dt="2023-07-17T17:41:54.780" v="0" actId="1076"/>
          <ac:spMkLst>
            <pc:docMk/>
            <pc:sldMk cId="2863234112" sldId="282"/>
            <ac:spMk id="5" creationId="{D5C5EF7B-1A7E-A90F-2717-D40FE60974C0}"/>
          </ac:spMkLst>
        </pc:spChg>
        <pc:picChg chg="mod">
          <ac:chgData name="Nubia Rossi Pavelqueires" userId="S::nubia@dio.me::9fb62b5b-6910-4da4-98ef-a6355beee27e" providerId="AD" clId="Web-{3CB474DA-191E-8C00-C54D-F91A7338F90F}" dt="2023-07-17T17:42:03.734" v="1" actId="1076"/>
          <ac:picMkLst>
            <pc:docMk/>
            <pc:sldMk cId="2863234112" sldId="282"/>
            <ac:picMk id="3" creationId="{AE7D15F1-35B8-6DDA-29F4-850075E87BD2}"/>
          </ac:picMkLst>
        </pc:picChg>
      </pc:sldChg>
      <pc:sldChg chg="modSp">
        <pc:chgData name="Nubia Rossi Pavelqueires" userId="S::nubia@dio.me::9fb62b5b-6910-4da4-98ef-a6355beee27e" providerId="AD" clId="Web-{3CB474DA-191E-8C00-C54D-F91A7338F90F}" dt="2023-07-17T17:43:50.082" v="7" actId="1076"/>
        <pc:sldMkLst>
          <pc:docMk/>
          <pc:sldMk cId="178696223" sldId="288"/>
        </pc:sldMkLst>
        <pc:spChg chg="mod">
          <ac:chgData name="Nubia Rossi Pavelqueires" userId="S::nubia@dio.me::9fb62b5b-6910-4da4-98ef-a6355beee27e" providerId="AD" clId="Web-{3CB474DA-191E-8C00-C54D-F91A7338F90F}" dt="2023-07-17T17:43:50.082" v="7" actId="1076"/>
          <ac:spMkLst>
            <pc:docMk/>
            <pc:sldMk cId="178696223" sldId="288"/>
            <ac:spMk id="6" creationId="{3E35E317-F80C-E32E-B515-721C0F04A3C6}"/>
          </ac:spMkLst>
        </pc:spChg>
        <pc:picChg chg="mod">
          <ac:chgData name="Nubia Rossi Pavelqueires" userId="S::nubia@dio.me::9fb62b5b-6910-4da4-98ef-a6355beee27e" providerId="AD" clId="Web-{3CB474DA-191E-8C00-C54D-F91A7338F90F}" dt="2023-07-17T17:43:22.768" v="4" actId="1076"/>
          <ac:picMkLst>
            <pc:docMk/>
            <pc:sldMk cId="178696223" sldId="288"/>
            <ac:picMk id="8194" creationId="{DB6C3C79-E653-0343-3E17-A61D2F3845D2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FB0749F-3762-4C3B-81D7-73449C863F20}" type="doc">
      <dgm:prSet loTypeId="urn:microsoft.com/office/officeart/2005/8/layout/venn3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DAE55822-D8D9-4129-AAF0-3A742F7649E8}">
      <dgm:prSet phldrT="[Text]"/>
      <dgm:spPr/>
      <dgm:t>
        <a:bodyPr/>
        <a:lstStyle/>
        <a:p>
          <a:r>
            <a:rPr lang="pt-PT" dirty="0" err="1"/>
            <a:t>Culture</a:t>
          </a:r>
          <a:r>
            <a:rPr lang="pt-PT" dirty="0"/>
            <a:t> </a:t>
          </a:r>
          <a:endParaRPr lang="en-GB" dirty="0"/>
        </a:p>
      </dgm:t>
    </dgm:pt>
    <dgm:pt modelId="{6ABCF5DC-8EB3-41FF-ADE3-8D26EEC8EBC5}" type="parTrans" cxnId="{57C43E6A-419A-4789-83D0-DEE3036A52DB}">
      <dgm:prSet/>
      <dgm:spPr/>
      <dgm:t>
        <a:bodyPr/>
        <a:lstStyle/>
        <a:p>
          <a:endParaRPr lang="en-GB"/>
        </a:p>
      </dgm:t>
    </dgm:pt>
    <dgm:pt modelId="{4AFDA383-D5FC-447B-A6F9-53F9BBF7E5FC}" type="sibTrans" cxnId="{57C43E6A-419A-4789-83D0-DEE3036A52DB}">
      <dgm:prSet/>
      <dgm:spPr/>
      <dgm:t>
        <a:bodyPr/>
        <a:lstStyle/>
        <a:p>
          <a:endParaRPr lang="en-GB"/>
        </a:p>
      </dgm:t>
    </dgm:pt>
    <dgm:pt modelId="{1BD7CB02-C089-4162-A7B4-56228B0EDA4F}">
      <dgm:prSet phldrT="[Text]"/>
      <dgm:spPr/>
      <dgm:t>
        <a:bodyPr/>
        <a:lstStyle/>
        <a:p>
          <a:r>
            <a:rPr lang="pt-PT" dirty="0" err="1"/>
            <a:t>Automation</a:t>
          </a:r>
          <a:endParaRPr lang="en-GB" dirty="0"/>
        </a:p>
      </dgm:t>
    </dgm:pt>
    <dgm:pt modelId="{17F8B1DC-9F83-4854-BF0D-2CCB7A28FEDD}" type="parTrans" cxnId="{6E93D207-6FF5-4339-8049-1C36B6CC8AC4}">
      <dgm:prSet/>
      <dgm:spPr/>
      <dgm:t>
        <a:bodyPr/>
        <a:lstStyle/>
        <a:p>
          <a:endParaRPr lang="en-GB"/>
        </a:p>
      </dgm:t>
    </dgm:pt>
    <dgm:pt modelId="{56E36813-9FC4-487A-A171-7733E9589370}" type="sibTrans" cxnId="{6E93D207-6FF5-4339-8049-1C36B6CC8AC4}">
      <dgm:prSet/>
      <dgm:spPr/>
      <dgm:t>
        <a:bodyPr/>
        <a:lstStyle/>
        <a:p>
          <a:endParaRPr lang="en-GB"/>
        </a:p>
      </dgm:t>
    </dgm:pt>
    <dgm:pt modelId="{DB49BB3B-C8E0-47F6-A398-B558D814A25A}">
      <dgm:prSet phldrT="[Text]"/>
      <dgm:spPr/>
      <dgm:t>
        <a:bodyPr/>
        <a:lstStyle/>
        <a:p>
          <a:r>
            <a:rPr lang="pt-PT" dirty="0" err="1"/>
            <a:t>Lean</a:t>
          </a:r>
          <a:endParaRPr lang="en-GB" dirty="0"/>
        </a:p>
      </dgm:t>
    </dgm:pt>
    <dgm:pt modelId="{227E6EF0-0499-45E8-8B2F-EEAAD3716F17}" type="parTrans" cxnId="{51DC3F55-69A4-4812-9EF0-3D92A5631AD0}">
      <dgm:prSet/>
      <dgm:spPr/>
      <dgm:t>
        <a:bodyPr/>
        <a:lstStyle/>
        <a:p>
          <a:endParaRPr lang="en-GB"/>
        </a:p>
      </dgm:t>
    </dgm:pt>
    <dgm:pt modelId="{0F4C20A1-7159-42C6-B13F-F4160EEC55C7}" type="sibTrans" cxnId="{51DC3F55-69A4-4812-9EF0-3D92A5631AD0}">
      <dgm:prSet/>
      <dgm:spPr/>
      <dgm:t>
        <a:bodyPr/>
        <a:lstStyle/>
        <a:p>
          <a:endParaRPr lang="en-GB"/>
        </a:p>
      </dgm:t>
    </dgm:pt>
    <dgm:pt modelId="{88356F80-3A04-410F-939B-9513837CED1A}">
      <dgm:prSet phldrT="[Text]"/>
      <dgm:spPr/>
      <dgm:t>
        <a:bodyPr/>
        <a:lstStyle/>
        <a:p>
          <a:r>
            <a:rPr lang="pt-PT" dirty="0" err="1"/>
            <a:t>Measurement</a:t>
          </a:r>
          <a:endParaRPr lang="en-GB" dirty="0"/>
        </a:p>
      </dgm:t>
    </dgm:pt>
    <dgm:pt modelId="{DAC969CE-BFD1-460F-9556-FE12CF2955B8}" type="parTrans" cxnId="{24FCF4CF-D3F9-42BD-806F-AE3645DFBBA3}">
      <dgm:prSet/>
      <dgm:spPr/>
      <dgm:t>
        <a:bodyPr/>
        <a:lstStyle/>
        <a:p>
          <a:endParaRPr lang="en-GB"/>
        </a:p>
      </dgm:t>
    </dgm:pt>
    <dgm:pt modelId="{CB5FE924-7700-470A-B2EA-DAEADF85AE65}" type="sibTrans" cxnId="{24FCF4CF-D3F9-42BD-806F-AE3645DFBBA3}">
      <dgm:prSet/>
      <dgm:spPr/>
      <dgm:t>
        <a:bodyPr/>
        <a:lstStyle/>
        <a:p>
          <a:endParaRPr lang="en-GB"/>
        </a:p>
      </dgm:t>
    </dgm:pt>
    <dgm:pt modelId="{8BBF11C0-2662-4F65-8161-654D9DBD4E5F}">
      <dgm:prSet/>
      <dgm:spPr/>
      <dgm:t>
        <a:bodyPr/>
        <a:lstStyle/>
        <a:p>
          <a:r>
            <a:rPr lang="pt-PT" dirty="0" err="1"/>
            <a:t>Sharing</a:t>
          </a:r>
          <a:endParaRPr lang="en-GB" dirty="0"/>
        </a:p>
      </dgm:t>
    </dgm:pt>
    <dgm:pt modelId="{0CC3FA1E-6164-4B4B-835D-C867D62491A6}" type="parTrans" cxnId="{FD0884BC-D0FF-40FD-BEDF-5CCAC1462D50}">
      <dgm:prSet/>
      <dgm:spPr/>
      <dgm:t>
        <a:bodyPr/>
        <a:lstStyle/>
        <a:p>
          <a:endParaRPr lang="en-GB"/>
        </a:p>
      </dgm:t>
    </dgm:pt>
    <dgm:pt modelId="{E17A069B-45E5-4FD0-AEB8-DE2367D7638E}" type="sibTrans" cxnId="{FD0884BC-D0FF-40FD-BEDF-5CCAC1462D50}">
      <dgm:prSet/>
      <dgm:spPr/>
      <dgm:t>
        <a:bodyPr/>
        <a:lstStyle/>
        <a:p>
          <a:endParaRPr lang="en-GB"/>
        </a:p>
      </dgm:t>
    </dgm:pt>
    <dgm:pt modelId="{68EEB4C3-08DE-48E9-91E2-C3F0C8DFDF32}" type="pres">
      <dgm:prSet presAssocID="{DFB0749F-3762-4C3B-81D7-73449C863F20}" presName="Name0" presStyleCnt="0">
        <dgm:presLayoutVars>
          <dgm:dir/>
          <dgm:resizeHandles val="exact"/>
        </dgm:presLayoutVars>
      </dgm:prSet>
      <dgm:spPr/>
    </dgm:pt>
    <dgm:pt modelId="{08DF6371-47B6-4DC3-8AD5-2735B40E42A7}" type="pres">
      <dgm:prSet presAssocID="{DAE55822-D8D9-4129-AAF0-3A742F7649E8}" presName="Name5" presStyleLbl="vennNode1" presStyleIdx="0" presStyleCnt="5">
        <dgm:presLayoutVars>
          <dgm:bulletEnabled val="1"/>
        </dgm:presLayoutVars>
      </dgm:prSet>
      <dgm:spPr/>
    </dgm:pt>
    <dgm:pt modelId="{78A9DC9C-053F-4B01-8AE3-E768D779D727}" type="pres">
      <dgm:prSet presAssocID="{4AFDA383-D5FC-447B-A6F9-53F9BBF7E5FC}" presName="space" presStyleCnt="0"/>
      <dgm:spPr/>
    </dgm:pt>
    <dgm:pt modelId="{ED4C37BE-F8EC-48B3-A1E6-DE6A681E4F73}" type="pres">
      <dgm:prSet presAssocID="{1BD7CB02-C089-4162-A7B4-56228B0EDA4F}" presName="Name5" presStyleLbl="vennNode1" presStyleIdx="1" presStyleCnt="5">
        <dgm:presLayoutVars>
          <dgm:bulletEnabled val="1"/>
        </dgm:presLayoutVars>
      </dgm:prSet>
      <dgm:spPr/>
    </dgm:pt>
    <dgm:pt modelId="{BA538725-60B6-4181-B480-07D6515F4BE6}" type="pres">
      <dgm:prSet presAssocID="{56E36813-9FC4-487A-A171-7733E9589370}" presName="space" presStyleCnt="0"/>
      <dgm:spPr/>
    </dgm:pt>
    <dgm:pt modelId="{AD754943-3CEE-40D8-8FAB-E6AB95567457}" type="pres">
      <dgm:prSet presAssocID="{DB49BB3B-C8E0-47F6-A398-B558D814A25A}" presName="Name5" presStyleLbl="vennNode1" presStyleIdx="2" presStyleCnt="5">
        <dgm:presLayoutVars>
          <dgm:bulletEnabled val="1"/>
        </dgm:presLayoutVars>
      </dgm:prSet>
      <dgm:spPr/>
    </dgm:pt>
    <dgm:pt modelId="{DB385723-592D-4929-AB29-573379E50749}" type="pres">
      <dgm:prSet presAssocID="{0F4C20A1-7159-42C6-B13F-F4160EEC55C7}" presName="space" presStyleCnt="0"/>
      <dgm:spPr/>
    </dgm:pt>
    <dgm:pt modelId="{AAA317FF-8709-4AA0-BBC5-3FCFCCA42335}" type="pres">
      <dgm:prSet presAssocID="{88356F80-3A04-410F-939B-9513837CED1A}" presName="Name5" presStyleLbl="vennNode1" presStyleIdx="3" presStyleCnt="5">
        <dgm:presLayoutVars>
          <dgm:bulletEnabled val="1"/>
        </dgm:presLayoutVars>
      </dgm:prSet>
      <dgm:spPr/>
    </dgm:pt>
    <dgm:pt modelId="{E59483C6-5B72-450C-8BC0-B92AB5C89C51}" type="pres">
      <dgm:prSet presAssocID="{CB5FE924-7700-470A-B2EA-DAEADF85AE65}" presName="space" presStyleCnt="0"/>
      <dgm:spPr/>
    </dgm:pt>
    <dgm:pt modelId="{4275C646-DE74-4197-BECA-E6ACA665C51C}" type="pres">
      <dgm:prSet presAssocID="{8BBF11C0-2662-4F65-8161-654D9DBD4E5F}" presName="Name5" presStyleLbl="vennNode1" presStyleIdx="4" presStyleCnt="5">
        <dgm:presLayoutVars>
          <dgm:bulletEnabled val="1"/>
        </dgm:presLayoutVars>
      </dgm:prSet>
      <dgm:spPr/>
    </dgm:pt>
  </dgm:ptLst>
  <dgm:cxnLst>
    <dgm:cxn modelId="{6E93D207-6FF5-4339-8049-1C36B6CC8AC4}" srcId="{DFB0749F-3762-4C3B-81D7-73449C863F20}" destId="{1BD7CB02-C089-4162-A7B4-56228B0EDA4F}" srcOrd="1" destOrd="0" parTransId="{17F8B1DC-9F83-4854-BF0D-2CCB7A28FEDD}" sibTransId="{56E36813-9FC4-487A-A171-7733E9589370}"/>
    <dgm:cxn modelId="{D9C6D815-A6A4-403F-A63E-CD04D8B5B5B6}" type="presOf" srcId="{DFB0749F-3762-4C3B-81D7-73449C863F20}" destId="{68EEB4C3-08DE-48E9-91E2-C3F0C8DFDF32}" srcOrd="0" destOrd="0" presId="urn:microsoft.com/office/officeart/2005/8/layout/venn3"/>
    <dgm:cxn modelId="{7B9F8424-03A5-4057-A02F-94A7918DF901}" type="presOf" srcId="{DB49BB3B-C8E0-47F6-A398-B558D814A25A}" destId="{AD754943-3CEE-40D8-8FAB-E6AB95567457}" srcOrd="0" destOrd="0" presId="urn:microsoft.com/office/officeart/2005/8/layout/venn3"/>
    <dgm:cxn modelId="{57C43E6A-419A-4789-83D0-DEE3036A52DB}" srcId="{DFB0749F-3762-4C3B-81D7-73449C863F20}" destId="{DAE55822-D8D9-4129-AAF0-3A742F7649E8}" srcOrd="0" destOrd="0" parTransId="{6ABCF5DC-8EB3-41FF-ADE3-8D26EEC8EBC5}" sibTransId="{4AFDA383-D5FC-447B-A6F9-53F9BBF7E5FC}"/>
    <dgm:cxn modelId="{51DC3F55-69A4-4812-9EF0-3D92A5631AD0}" srcId="{DFB0749F-3762-4C3B-81D7-73449C863F20}" destId="{DB49BB3B-C8E0-47F6-A398-B558D814A25A}" srcOrd="2" destOrd="0" parTransId="{227E6EF0-0499-45E8-8B2F-EEAAD3716F17}" sibTransId="{0F4C20A1-7159-42C6-B13F-F4160EEC55C7}"/>
    <dgm:cxn modelId="{FCE27375-4B12-4607-BCB0-517D59F735E1}" type="presOf" srcId="{DAE55822-D8D9-4129-AAF0-3A742F7649E8}" destId="{08DF6371-47B6-4DC3-8AD5-2735B40E42A7}" srcOrd="0" destOrd="0" presId="urn:microsoft.com/office/officeart/2005/8/layout/venn3"/>
    <dgm:cxn modelId="{1982B07D-A09C-4EC8-91DD-2C3EBF342BD7}" type="presOf" srcId="{88356F80-3A04-410F-939B-9513837CED1A}" destId="{AAA317FF-8709-4AA0-BBC5-3FCFCCA42335}" srcOrd="0" destOrd="0" presId="urn:microsoft.com/office/officeart/2005/8/layout/venn3"/>
    <dgm:cxn modelId="{9237F58E-D7A3-48F3-9685-55AA7AB3D328}" type="presOf" srcId="{8BBF11C0-2662-4F65-8161-654D9DBD4E5F}" destId="{4275C646-DE74-4197-BECA-E6ACA665C51C}" srcOrd="0" destOrd="0" presId="urn:microsoft.com/office/officeart/2005/8/layout/venn3"/>
    <dgm:cxn modelId="{322C1893-CA29-49E7-ABB2-2A039E5CBC38}" type="presOf" srcId="{1BD7CB02-C089-4162-A7B4-56228B0EDA4F}" destId="{ED4C37BE-F8EC-48B3-A1E6-DE6A681E4F73}" srcOrd="0" destOrd="0" presId="urn:microsoft.com/office/officeart/2005/8/layout/venn3"/>
    <dgm:cxn modelId="{FD0884BC-D0FF-40FD-BEDF-5CCAC1462D50}" srcId="{DFB0749F-3762-4C3B-81D7-73449C863F20}" destId="{8BBF11C0-2662-4F65-8161-654D9DBD4E5F}" srcOrd="4" destOrd="0" parTransId="{0CC3FA1E-6164-4B4B-835D-C867D62491A6}" sibTransId="{E17A069B-45E5-4FD0-AEB8-DE2367D7638E}"/>
    <dgm:cxn modelId="{24FCF4CF-D3F9-42BD-806F-AE3645DFBBA3}" srcId="{DFB0749F-3762-4C3B-81D7-73449C863F20}" destId="{88356F80-3A04-410F-939B-9513837CED1A}" srcOrd="3" destOrd="0" parTransId="{DAC969CE-BFD1-460F-9556-FE12CF2955B8}" sibTransId="{CB5FE924-7700-470A-B2EA-DAEADF85AE65}"/>
    <dgm:cxn modelId="{922A7CA6-CE38-4651-907A-D71B4FCEA91F}" type="presParOf" srcId="{68EEB4C3-08DE-48E9-91E2-C3F0C8DFDF32}" destId="{08DF6371-47B6-4DC3-8AD5-2735B40E42A7}" srcOrd="0" destOrd="0" presId="urn:microsoft.com/office/officeart/2005/8/layout/venn3"/>
    <dgm:cxn modelId="{4CC7A2EC-DC0F-4056-9464-A24E403CBADC}" type="presParOf" srcId="{68EEB4C3-08DE-48E9-91E2-C3F0C8DFDF32}" destId="{78A9DC9C-053F-4B01-8AE3-E768D779D727}" srcOrd="1" destOrd="0" presId="urn:microsoft.com/office/officeart/2005/8/layout/venn3"/>
    <dgm:cxn modelId="{6E6479EE-A369-4ECE-BAC9-88A0BB8E8967}" type="presParOf" srcId="{68EEB4C3-08DE-48E9-91E2-C3F0C8DFDF32}" destId="{ED4C37BE-F8EC-48B3-A1E6-DE6A681E4F73}" srcOrd="2" destOrd="0" presId="urn:microsoft.com/office/officeart/2005/8/layout/venn3"/>
    <dgm:cxn modelId="{628B3F74-ADEF-47F8-9B24-635E8B8EBB7D}" type="presParOf" srcId="{68EEB4C3-08DE-48E9-91E2-C3F0C8DFDF32}" destId="{BA538725-60B6-4181-B480-07D6515F4BE6}" srcOrd="3" destOrd="0" presId="urn:microsoft.com/office/officeart/2005/8/layout/venn3"/>
    <dgm:cxn modelId="{283403C9-05A3-410E-9114-CA1ABEDB87B2}" type="presParOf" srcId="{68EEB4C3-08DE-48E9-91E2-C3F0C8DFDF32}" destId="{AD754943-3CEE-40D8-8FAB-E6AB95567457}" srcOrd="4" destOrd="0" presId="urn:microsoft.com/office/officeart/2005/8/layout/venn3"/>
    <dgm:cxn modelId="{3BB51504-A33B-4592-8FB0-51BA90B16A34}" type="presParOf" srcId="{68EEB4C3-08DE-48E9-91E2-C3F0C8DFDF32}" destId="{DB385723-592D-4929-AB29-573379E50749}" srcOrd="5" destOrd="0" presId="urn:microsoft.com/office/officeart/2005/8/layout/venn3"/>
    <dgm:cxn modelId="{FD026BEA-C3BB-4DF1-82F5-DDE979168145}" type="presParOf" srcId="{68EEB4C3-08DE-48E9-91E2-C3F0C8DFDF32}" destId="{AAA317FF-8709-4AA0-BBC5-3FCFCCA42335}" srcOrd="6" destOrd="0" presId="urn:microsoft.com/office/officeart/2005/8/layout/venn3"/>
    <dgm:cxn modelId="{1AB74B67-D9B9-47AA-B2DF-7F130BC267FD}" type="presParOf" srcId="{68EEB4C3-08DE-48E9-91E2-C3F0C8DFDF32}" destId="{E59483C6-5B72-450C-8BC0-B92AB5C89C51}" srcOrd="7" destOrd="0" presId="urn:microsoft.com/office/officeart/2005/8/layout/venn3"/>
    <dgm:cxn modelId="{E211508F-C22B-4CD8-8BEA-24316496CBE5}" type="presParOf" srcId="{68EEB4C3-08DE-48E9-91E2-C3F0C8DFDF32}" destId="{4275C646-DE74-4197-BECA-E6ACA665C51C}" srcOrd="8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DF6371-47B6-4DC3-8AD5-2735B40E42A7}">
      <dsp:nvSpPr>
        <dsp:cNvPr id="0" name=""/>
        <dsp:cNvSpPr/>
      </dsp:nvSpPr>
      <dsp:spPr>
        <a:xfrm>
          <a:off x="744" y="1306462"/>
          <a:ext cx="1451074" cy="1451074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79857" tIns="13970" rIns="79857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100" kern="1200" dirty="0" err="1"/>
            <a:t>Culture</a:t>
          </a:r>
          <a:r>
            <a:rPr lang="pt-PT" sz="1100" kern="1200" dirty="0"/>
            <a:t> </a:t>
          </a:r>
          <a:endParaRPr lang="en-GB" sz="1100" kern="1200" dirty="0"/>
        </a:p>
      </dsp:txBody>
      <dsp:txXfrm>
        <a:off x="213249" y="1518967"/>
        <a:ext cx="1026064" cy="1026064"/>
      </dsp:txXfrm>
    </dsp:sp>
    <dsp:sp modelId="{ED4C37BE-F8EC-48B3-A1E6-DE6A681E4F73}">
      <dsp:nvSpPr>
        <dsp:cNvPr id="0" name=""/>
        <dsp:cNvSpPr/>
      </dsp:nvSpPr>
      <dsp:spPr>
        <a:xfrm>
          <a:off x="1161603" y="1306462"/>
          <a:ext cx="1451074" cy="1451074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79857" tIns="13970" rIns="79857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100" kern="1200" dirty="0" err="1"/>
            <a:t>Automation</a:t>
          </a:r>
          <a:endParaRPr lang="en-GB" sz="1100" kern="1200" dirty="0"/>
        </a:p>
      </dsp:txBody>
      <dsp:txXfrm>
        <a:off x="1374108" y="1518967"/>
        <a:ext cx="1026064" cy="1026064"/>
      </dsp:txXfrm>
    </dsp:sp>
    <dsp:sp modelId="{AD754943-3CEE-40D8-8FAB-E6AB95567457}">
      <dsp:nvSpPr>
        <dsp:cNvPr id="0" name=""/>
        <dsp:cNvSpPr/>
      </dsp:nvSpPr>
      <dsp:spPr>
        <a:xfrm>
          <a:off x="2322462" y="1306462"/>
          <a:ext cx="1451074" cy="1451074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79857" tIns="13970" rIns="79857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100" kern="1200" dirty="0" err="1"/>
            <a:t>Lean</a:t>
          </a:r>
          <a:endParaRPr lang="en-GB" sz="1100" kern="1200" dirty="0"/>
        </a:p>
      </dsp:txBody>
      <dsp:txXfrm>
        <a:off x="2534967" y="1518967"/>
        <a:ext cx="1026064" cy="1026064"/>
      </dsp:txXfrm>
    </dsp:sp>
    <dsp:sp modelId="{AAA317FF-8709-4AA0-BBC5-3FCFCCA42335}">
      <dsp:nvSpPr>
        <dsp:cNvPr id="0" name=""/>
        <dsp:cNvSpPr/>
      </dsp:nvSpPr>
      <dsp:spPr>
        <a:xfrm>
          <a:off x="3483322" y="1306462"/>
          <a:ext cx="1451074" cy="1451074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79857" tIns="13970" rIns="79857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100" kern="1200" dirty="0" err="1"/>
            <a:t>Measurement</a:t>
          </a:r>
          <a:endParaRPr lang="en-GB" sz="1100" kern="1200" dirty="0"/>
        </a:p>
      </dsp:txBody>
      <dsp:txXfrm>
        <a:off x="3695827" y="1518967"/>
        <a:ext cx="1026064" cy="1026064"/>
      </dsp:txXfrm>
    </dsp:sp>
    <dsp:sp modelId="{4275C646-DE74-4197-BECA-E6ACA665C51C}">
      <dsp:nvSpPr>
        <dsp:cNvPr id="0" name=""/>
        <dsp:cNvSpPr/>
      </dsp:nvSpPr>
      <dsp:spPr>
        <a:xfrm>
          <a:off x="4644181" y="1306462"/>
          <a:ext cx="1451074" cy="1451074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79857" tIns="13970" rIns="79857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100" kern="1200" dirty="0" err="1"/>
            <a:t>Sharing</a:t>
          </a:r>
          <a:endParaRPr lang="en-GB" sz="1100" kern="1200" dirty="0"/>
        </a:p>
      </dsp:txBody>
      <dsp:txXfrm>
        <a:off x="4856686" y="1518967"/>
        <a:ext cx="1026064" cy="102606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2" name="Google Shape;19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389776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59445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258493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689299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005780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312015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918730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77684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794909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6770053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0292712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5687486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7509902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9038028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8175543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5734224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448345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_1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g109ffa863cd_0_28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109ffa863cd_0_28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109ffa863cd_0_24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9" name="Google Shape;19;g109ffa863cd_0_24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0" name="Google Shape;20;g109ffa863cd_0_24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109ffa863cd_0_248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3" name="Google Shape;23;g109ffa863cd_0_24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109ffa863cd_0_25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g109ffa863cd_0_25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7" name="Google Shape;27;g109ffa863cd_0_25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109ffa863cd_0_25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g109ffa863cd_0_25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g109ffa863cd_0_25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g109ffa863cd_0_25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109ffa863cd_0_263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5" name="Google Shape;35;g109ffa863cd_0_263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6" name="Google Shape;36;g109ffa863cd_0_26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109ffa863cd_0_26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9" name="Google Shape;39;g109ffa863cd_0_26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109ffa863cd_0_27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g109ffa863cd_0_27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3" name="Google Shape;43;g109ffa863cd_0_27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4" name="Google Shape;44;g109ffa863cd_0_27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g109ffa863cd_0_27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09ffa863cd_0_276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8" name="Google Shape;48;g109ffa863cd_0_27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109ffa863cd_0_27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g109ffa863cd_0_279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g109ffa863cd_0_27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109ffa863cd_0_24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g109ffa863cd_0_24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8" name="Google Shape;8;g109ffa863cd_0_240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8127425" y="119987"/>
            <a:ext cx="851525" cy="33142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;g109ffa863cd_0_24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emf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5"/>
          <p:cNvSpPr txBox="1"/>
          <p:nvPr/>
        </p:nvSpPr>
        <p:spPr>
          <a:xfrm>
            <a:off x="565523" y="3874338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400" b="1" dirty="0">
                <a:solidFill>
                  <a:srgbClr val="A5A5A5"/>
                </a:solidFill>
                <a:latin typeface="Calibri"/>
                <a:cs typeface="Calibri"/>
                <a:sym typeface="Calibri"/>
              </a:rPr>
              <a:t>DevOps Fundamentals</a:t>
            </a:r>
          </a:p>
          <a:p>
            <a:r>
              <a:rPr lang="en-US" sz="2000" dirty="0">
                <a:solidFill>
                  <a:srgbClr val="A5A5A5"/>
                </a:solidFill>
                <a:latin typeface="Calibri"/>
                <a:cs typeface="Calibri"/>
                <a:sym typeface="Calibri"/>
              </a:rPr>
              <a:t>Alexsandro Lechner</a:t>
            </a:r>
            <a:r>
              <a:rPr lang="en-US" sz="2400" dirty="0">
                <a:solidFill>
                  <a:srgbClr val="A5A5A5"/>
                </a:solidFill>
                <a:latin typeface="Calibri"/>
                <a:cs typeface="Calibri"/>
                <a:sym typeface="Calibri"/>
              </a:rPr>
              <a:t> </a:t>
            </a:r>
            <a:endParaRPr lang="pt-BR" dirty="0"/>
          </a:p>
        </p:txBody>
      </p:sp>
      <p:sp>
        <p:nvSpPr>
          <p:cNvPr id="195" name="Google Shape;195;p5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Tema</a:t>
            </a:r>
            <a:endParaRPr sz="24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6" name="Google Shape;196;p5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5000"/>
              </a:lnSpc>
              <a:buSzPts val="3200"/>
            </a:pPr>
            <a:r>
              <a:rPr lang="en-US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 que é DevOps?</a:t>
            </a:r>
            <a:endParaRPr lang="en-US" sz="40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</a:endParaRPr>
          </a:p>
        </p:txBody>
      </p:sp>
      <p:pic>
        <p:nvPicPr>
          <p:cNvPr id="197" name="Google Shape;197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EA1964B6-F15C-06B4-C0D3-8148BB26F7DE}"/>
              </a:ext>
            </a:extLst>
          </p:cNvPr>
          <p:cNvGrpSpPr/>
          <p:nvPr/>
        </p:nvGrpSpPr>
        <p:grpSpPr>
          <a:xfrm>
            <a:off x="671660" y="4443062"/>
            <a:ext cx="1748642" cy="398700"/>
            <a:chOff x="3899066" y="4462016"/>
            <a:chExt cx="1748642" cy="398700"/>
          </a:xfrm>
        </p:grpSpPr>
        <p:pic>
          <p:nvPicPr>
            <p:cNvPr id="3" name="Picture 2" descr="Icon&#10;&#10;Description automatically generated">
              <a:extLst>
                <a:ext uri="{FF2B5EF4-FFF2-40B4-BE49-F238E27FC236}">
                  <a16:creationId xmlns:a16="http://schemas.microsoft.com/office/drawing/2014/main" id="{F96448E7-58D9-CBFC-8973-DCFA8A84A65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899066" y="4547507"/>
              <a:ext cx="290695" cy="290695"/>
            </a:xfrm>
            <a:prstGeom prst="rect">
              <a:avLst/>
            </a:prstGeom>
          </p:spPr>
        </p:pic>
        <p:sp>
          <p:nvSpPr>
            <p:cNvPr id="4" name="Google Shape;194;p5">
              <a:extLst>
                <a:ext uri="{FF2B5EF4-FFF2-40B4-BE49-F238E27FC236}">
                  <a16:creationId xmlns:a16="http://schemas.microsoft.com/office/drawing/2014/main" id="{2F74E707-5F49-4487-4C01-EAE6851CF06F}"/>
                </a:ext>
              </a:extLst>
            </p:cNvPr>
            <p:cNvSpPr txBox="1"/>
            <p:nvPr/>
          </p:nvSpPr>
          <p:spPr>
            <a:xfrm>
              <a:off x="4124447" y="4462016"/>
              <a:ext cx="1523261" cy="39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r>
                <a:rPr lang="en-US" dirty="0" err="1">
                  <a:solidFill>
                    <a:srgbClr val="A5A5A5"/>
                  </a:solidFill>
                  <a:latin typeface="Calibri"/>
                  <a:cs typeface="Calibri"/>
                  <a:sym typeface="Calibri"/>
                </a:rPr>
                <a:t>alexsandrolechner</a:t>
              </a:r>
              <a:endParaRPr lang="pt-BR" sz="1000" dirty="0"/>
            </a:p>
          </p:txBody>
        </p:sp>
      </p:grpSp>
      <p:pic>
        <p:nvPicPr>
          <p:cNvPr id="7" name="Picture 6" descr="A picture containing qr code&#10;&#10;Description automatically generated">
            <a:extLst>
              <a:ext uri="{FF2B5EF4-FFF2-40B4-BE49-F238E27FC236}">
                <a16:creationId xmlns:a16="http://schemas.microsoft.com/office/drawing/2014/main" id="{D6B2B156-79CE-83FE-6A27-7D8B568BFF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9461" y="4097996"/>
            <a:ext cx="1445078" cy="73110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09ffa863cd_0_328"/>
          <p:cNvSpPr txBox="1"/>
          <p:nvPr/>
        </p:nvSpPr>
        <p:spPr>
          <a:xfrm>
            <a:off x="364047" y="3552428"/>
            <a:ext cx="6641188" cy="1423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Esta figura ilustra um pouco a evolução do processo de desenvolvimento de software.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Nós temos ali a </a:t>
            </a:r>
            <a:r>
              <a:rPr lang="pt-BR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Waterfall</a:t>
            </a:r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pt-BR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Agile</a:t>
            </a:r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 Lean, que são metodologias antigas de desenvolvimento de software que ainda são utilizadas por algumas empresas. </a:t>
            </a:r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Um </a:t>
            </a:r>
            <a:r>
              <a:rPr lang="en-US" sz="40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pouco</a:t>
            </a:r>
            <a:r>
              <a:rPr lang="en-US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de </a:t>
            </a:r>
            <a:r>
              <a:rPr lang="en-US" sz="40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História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5" name="Google Shape;205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dirty="0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</a:t>
            </a:fld>
            <a:r>
              <a:rPr lang="en-US" dirty="0"/>
              <a:t>]</a:t>
            </a:r>
            <a:endParaRPr dirty="0"/>
          </a:p>
        </p:txBody>
      </p:sp>
      <p:pic>
        <p:nvPicPr>
          <p:cNvPr id="2" name="Picture 1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BA17561F-8543-6547-040F-137B678C25D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094" b="4430"/>
          <a:stretch/>
        </p:blipFill>
        <p:spPr bwMode="auto">
          <a:xfrm>
            <a:off x="1898543" y="1407448"/>
            <a:ext cx="4974956" cy="208590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Um </a:t>
            </a:r>
            <a:r>
              <a:rPr lang="en-US" sz="40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pouco</a:t>
            </a:r>
            <a:r>
              <a:rPr lang="en-US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de </a:t>
            </a:r>
            <a:r>
              <a:rPr lang="en-US" sz="40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História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5" name="Google Shape;205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</a:t>
            </a:fld>
            <a:r>
              <a:rPr lang="en-US"/>
              <a:t>]</a:t>
            </a:r>
            <a:endParaRPr/>
          </a:p>
        </p:txBody>
      </p:sp>
      <p:sp>
        <p:nvSpPr>
          <p:cNvPr id="2" name="Google Shape;203;g109ffa863cd_0_328">
            <a:extLst>
              <a:ext uri="{FF2B5EF4-FFF2-40B4-BE49-F238E27FC236}">
                <a16:creationId xmlns:a16="http://schemas.microsoft.com/office/drawing/2014/main" id="{8D1377B5-EEBA-4683-8669-92C730DD6B99}"/>
              </a:ext>
            </a:extLst>
          </p:cNvPr>
          <p:cNvSpPr txBox="1"/>
          <p:nvPr/>
        </p:nvSpPr>
        <p:spPr>
          <a:xfrm>
            <a:off x="501758" y="1445078"/>
            <a:ext cx="7944818" cy="2102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Mas como chegamos ao </a:t>
            </a:r>
            <a:r>
              <a:rPr lang="pt-BR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DevOps</a:t>
            </a:r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  <a:b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Depois de percorrer todos estes processos e amadurecer o nosso desenvolvimento de software, surgiu uma nova metodologia de desenvolvimento que tem como objetivo integrar as equipes de desenvolvimento (</a:t>
            </a:r>
            <a:r>
              <a:rPr lang="pt-BR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Dev</a:t>
            </a:r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e operações (</a:t>
            </a:r>
            <a:r>
              <a:rPr lang="pt-BR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Ops</a:t>
            </a:r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de uma organização para permitir a entrega </a:t>
            </a:r>
            <a:r>
              <a:rPr lang="pt-BR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rápida e contínua</a:t>
            </a:r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de software de alta qualidade.</a:t>
            </a:r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Google Shape;203;g109ffa863cd_0_328">
            <a:extLst>
              <a:ext uri="{FF2B5EF4-FFF2-40B4-BE49-F238E27FC236}">
                <a16:creationId xmlns:a16="http://schemas.microsoft.com/office/drawing/2014/main" id="{91CB86AA-5F07-B083-064C-CB696090BA7C}"/>
              </a:ext>
            </a:extLst>
          </p:cNvPr>
          <p:cNvSpPr txBox="1"/>
          <p:nvPr/>
        </p:nvSpPr>
        <p:spPr>
          <a:xfrm>
            <a:off x="501758" y="3547980"/>
            <a:ext cx="5172421" cy="1595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Essa abordagem envolve a colaboração entre os desenvolvedores de software e as equipes de operações de infraestrutura, garantindo que as mudanças de software possam ser implantadas de forma segura e eficiente em ambientes de produção. </a:t>
            </a:r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77476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Um </a:t>
            </a:r>
            <a:r>
              <a:rPr lang="en-US" sz="40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pouco</a:t>
            </a:r>
            <a:r>
              <a:rPr lang="en-US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de </a:t>
            </a:r>
            <a:r>
              <a:rPr lang="en-US" sz="40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História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5" name="Google Shape;205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</a:t>
            </a:fld>
            <a:r>
              <a:rPr lang="en-US"/>
              <a:t>]</a:t>
            </a:r>
            <a:endParaRPr/>
          </a:p>
        </p:txBody>
      </p:sp>
      <p:sp>
        <p:nvSpPr>
          <p:cNvPr id="2" name="Google Shape;203;g109ffa863cd_0_328">
            <a:extLst>
              <a:ext uri="{FF2B5EF4-FFF2-40B4-BE49-F238E27FC236}">
                <a16:creationId xmlns:a16="http://schemas.microsoft.com/office/drawing/2014/main" id="{8D1377B5-EEBA-4683-8669-92C730DD6B99}"/>
              </a:ext>
            </a:extLst>
          </p:cNvPr>
          <p:cNvSpPr txBox="1"/>
          <p:nvPr/>
        </p:nvSpPr>
        <p:spPr>
          <a:xfrm>
            <a:off x="501758" y="1445079"/>
            <a:ext cx="7944818" cy="1004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 </a:t>
            </a:r>
            <a:r>
              <a:rPr lang="pt-BR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DevOps</a:t>
            </a:r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promove a automação de processos e testes, para garantir uma entrega rápida e consistente, bem como a integração contínua e a entrega contínua (CI/CD).</a:t>
            </a:r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Graphical user interface&#10;&#10;Description automatically generated with medium confidence">
            <a:extLst>
              <a:ext uri="{FF2B5EF4-FFF2-40B4-BE49-F238E27FC236}">
                <a16:creationId xmlns:a16="http://schemas.microsoft.com/office/drawing/2014/main" id="{AE7D15F1-35B8-6DDA-29F4-850075E87BD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90"/>
          <a:stretch/>
        </p:blipFill>
        <p:spPr bwMode="auto">
          <a:xfrm>
            <a:off x="4163560" y="3736520"/>
            <a:ext cx="2622896" cy="1410607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Google Shape;203;g109ffa863cd_0_328">
            <a:extLst>
              <a:ext uri="{FF2B5EF4-FFF2-40B4-BE49-F238E27FC236}">
                <a16:creationId xmlns:a16="http://schemas.microsoft.com/office/drawing/2014/main" id="{D5C5EF7B-1A7E-A90F-2717-D40FE60974C0}"/>
              </a:ext>
            </a:extLst>
          </p:cNvPr>
          <p:cNvSpPr txBox="1"/>
          <p:nvPr/>
        </p:nvSpPr>
        <p:spPr>
          <a:xfrm>
            <a:off x="563262" y="2479766"/>
            <a:ext cx="7944818" cy="1649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sz="1800" dirty="0">
                <a:solidFill>
                  <a:srgbClr val="00000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 DevOps baseia-se numa equipa centrada na Velocidade de Entrega e Estabilidade da </a:t>
            </a:r>
            <a:r>
              <a:rPr lang="pt-PT" sz="1800" dirty="0" err="1">
                <a:solidFill>
                  <a:srgbClr val="00000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Infra-estrutura</a:t>
            </a:r>
            <a:r>
              <a:rPr lang="pt-PT" sz="1800" dirty="0">
                <a:solidFill>
                  <a:srgbClr val="00000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com os seguintes </a:t>
            </a:r>
            <a:r>
              <a:rPr lang="pt-PT" sz="1800" dirty="0" err="1">
                <a:solidFill>
                  <a:srgbClr val="00000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objectivos</a:t>
            </a:r>
            <a:r>
              <a:rPr lang="pt-PT" sz="1800" dirty="0">
                <a:solidFill>
                  <a:srgbClr val="00000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"/>
            </a:pPr>
            <a:r>
              <a:rPr lang="pt-PT" sz="1800" dirty="0">
                <a:solidFill>
                  <a:srgbClr val="00000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Entrega rápida do Código Concluído à Produção</a:t>
            </a:r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"/>
            </a:pPr>
            <a:r>
              <a:rPr lang="en-GB" sz="1800" dirty="0" err="1">
                <a:solidFill>
                  <a:srgbClr val="00000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Mínimo</a:t>
            </a:r>
            <a:r>
              <a:rPr lang="en-GB" sz="1800" dirty="0">
                <a:solidFill>
                  <a:srgbClr val="00000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GB" sz="1800" dirty="0" err="1">
                <a:solidFill>
                  <a:srgbClr val="00000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falhas</a:t>
            </a:r>
            <a:r>
              <a:rPr lang="en-GB" sz="1800" dirty="0">
                <a:solidFill>
                  <a:srgbClr val="00000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GB" sz="1800" dirty="0" err="1">
                <a:solidFill>
                  <a:srgbClr val="00000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produção</a:t>
            </a:r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"/>
            </a:pPr>
            <a:r>
              <a:rPr lang="en-GB" sz="1800" dirty="0" err="1">
                <a:solidFill>
                  <a:srgbClr val="00000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Recuperação</a:t>
            </a:r>
            <a:r>
              <a:rPr lang="en-GB" sz="1800" dirty="0">
                <a:solidFill>
                  <a:srgbClr val="00000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dirty="0" err="1">
                <a:solidFill>
                  <a:srgbClr val="00000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Imediata</a:t>
            </a:r>
            <a:r>
              <a:rPr lang="en-GB" sz="1800" dirty="0">
                <a:solidFill>
                  <a:srgbClr val="00000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GB" sz="1800" dirty="0" err="1">
                <a:solidFill>
                  <a:srgbClr val="00000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Falhas</a:t>
            </a:r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32341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Um </a:t>
            </a:r>
            <a:r>
              <a:rPr lang="en-US" sz="40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pouco</a:t>
            </a:r>
            <a:r>
              <a:rPr lang="en-US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de </a:t>
            </a:r>
            <a:r>
              <a:rPr lang="en-US" sz="40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História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5" name="Google Shape;205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</a:t>
            </a:fld>
            <a:r>
              <a:rPr lang="en-US"/>
              <a:t>]</a:t>
            </a:r>
            <a:endParaRPr/>
          </a:p>
        </p:txBody>
      </p:sp>
      <p:pic>
        <p:nvPicPr>
          <p:cNvPr id="4" name="Picture 3" descr="Agile vs. waterfall drawing">
            <a:extLst>
              <a:ext uri="{FF2B5EF4-FFF2-40B4-BE49-F238E27FC236}">
                <a16:creationId xmlns:a16="http://schemas.microsoft.com/office/drawing/2014/main" id="{23079A1D-9E10-6CB5-D263-205E4FB3CC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5078" y="1481050"/>
            <a:ext cx="5470071" cy="361196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899552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Um </a:t>
            </a:r>
            <a:r>
              <a:rPr lang="en-US" sz="40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pouco</a:t>
            </a:r>
            <a:r>
              <a:rPr lang="en-US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de </a:t>
            </a:r>
            <a:r>
              <a:rPr lang="en-US" sz="40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História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5" name="Google Shape;205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6</a:t>
            </a:fld>
            <a:r>
              <a:rPr lang="en-US"/>
              <a:t>]</a:t>
            </a:r>
            <a:endParaRPr/>
          </a:p>
        </p:txBody>
      </p:sp>
      <p:pic>
        <p:nvPicPr>
          <p:cNvPr id="2" name="Picture 1" descr="No alt text provided for this image">
            <a:extLst>
              <a:ext uri="{FF2B5EF4-FFF2-40B4-BE49-F238E27FC236}">
                <a16:creationId xmlns:a16="http://schemas.microsoft.com/office/drawing/2014/main" id="{4B068FDC-CDBC-2B7F-4F92-84E4D4EE18F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834" y="1412421"/>
            <a:ext cx="6633193" cy="373107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723034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Um </a:t>
            </a:r>
            <a:r>
              <a:rPr lang="en-US" sz="40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pouco</a:t>
            </a:r>
            <a:r>
              <a:rPr lang="en-US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de </a:t>
            </a:r>
            <a:r>
              <a:rPr lang="en-US" sz="40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História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5" name="Google Shape;205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7</a:t>
            </a:fld>
            <a:r>
              <a:rPr lang="en-US"/>
              <a:t>]</a:t>
            </a:r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E61A060-63DA-D809-952B-AF6AE6124A77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903547" y="1613788"/>
            <a:ext cx="10470687" cy="46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120C6992-0273-3C03-F1FE-9C5C5101055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6094660"/>
              </p:ext>
            </p:extLst>
          </p:nvPr>
        </p:nvGraphicFramePr>
        <p:xfrm>
          <a:off x="1722664" y="1437567"/>
          <a:ext cx="5371874" cy="36592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8642143" imgH="4332266" progId="Unknown">
                  <p:embed/>
                </p:oleObj>
              </mc:Choice>
              <mc:Fallback>
                <p:oleObj r:id="rId3" imgW="8642143" imgH="4332266" progId="Unknown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20558"/>
                      <a:stretch>
                        <a:fillRect/>
                      </a:stretch>
                    </p:blipFill>
                    <p:spPr bwMode="auto">
                      <a:xfrm>
                        <a:off x="1722664" y="1437567"/>
                        <a:ext cx="5371874" cy="365924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215511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Um </a:t>
            </a:r>
            <a:r>
              <a:rPr lang="en-US" sz="40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pouco</a:t>
            </a:r>
            <a:r>
              <a:rPr lang="en-US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de </a:t>
            </a:r>
            <a:r>
              <a:rPr lang="en-US" sz="40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História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5" name="Google Shape;205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8</a:t>
            </a:fld>
            <a:r>
              <a:rPr lang="en-US"/>
              <a:t>]</a:t>
            </a:r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E61A060-63DA-D809-952B-AF6AE6124A77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903547" y="1613788"/>
            <a:ext cx="10470687" cy="46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pic>
        <p:nvPicPr>
          <p:cNvPr id="7170" name="Picture 2" descr="DevOps: Conceito, para que serve, vantagens e implementação - FIA">
            <a:extLst>
              <a:ext uri="{FF2B5EF4-FFF2-40B4-BE49-F238E27FC236}">
                <a16:creationId xmlns:a16="http://schemas.microsoft.com/office/drawing/2014/main" id="{89BD58DA-14F9-B96A-B1E3-8816B2920B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644" b="7749"/>
          <a:stretch/>
        </p:blipFill>
        <p:spPr bwMode="auto">
          <a:xfrm>
            <a:off x="775607" y="1377549"/>
            <a:ext cx="6678386" cy="3723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47343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09ffa863cd_0_328"/>
          <p:cNvSpPr txBox="1"/>
          <p:nvPr/>
        </p:nvSpPr>
        <p:spPr>
          <a:xfrm>
            <a:off x="648355" y="3618563"/>
            <a:ext cx="6641188" cy="1423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DevOps</a:t>
            </a:r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é uma metodologia de desenvolvimento de software que tem como objetivo integrar as equipes de desenvolvimento (</a:t>
            </a:r>
            <a:r>
              <a:rPr lang="pt-BR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Dev</a:t>
            </a:r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e operações (</a:t>
            </a:r>
            <a:r>
              <a:rPr lang="pt-BR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Ops</a:t>
            </a:r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de uma organização para permitir a entrega rápida e contínua de software de alta qualidade.</a:t>
            </a:r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Fundamentos</a:t>
            </a:r>
            <a:r>
              <a:rPr lang="en-US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do DevOps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5" name="Google Shape;205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9</a:t>
            </a:fld>
            <a:r>
              <a:rPr lang="en-US"/>
              <a:t>]</a:t>
            </a:r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FECCC65-F86F-C413-E904-8E128E8635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8108" y="1321387"/>
            <a:ext cx="7235687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34AEDCEE-A4A2-0D60-DE17-CE0BD652C61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5320482"/>
              </p:ext>
            </p:extLst>
          </p:nvPr>
        </p:nvGraphicFramePr>
        <p:xfrm>
          <a:off x="1853293" y="1339300"/>
          <a:ext cx="5147282" cy="2346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1882947" imgH="5415333" progId="Unknown">
                  <p:embed/>
                </p:oleObj>
              </mc:Choice>
              <mc:Fallback>
                <p:oleObj r:id="rId3" imgW="11882947" imgH="5415333" progId="Unknown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34AEDCEE-A4A2-0D60-DE17-CE0BD652C61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3293" y="1339300"/>
                        <a:ext cx="5147282" cy="234611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Google Shape;203;g109ffa863cd_0_328">
            <a:extLst>
              <a:ext uri="{FF2B5EF4-FFF2-40B4-BE49-F238E27FC236}">
                <a16:creationId xmlns:a16="http://schemas.microsoft.com/office/drawing/2014/main" id="{654956A3-EBB4-D307-A784-25055DE996C3}"/>
              </a:ext>
            </a:extLst>
          </p:cNvPr>
          <p:cNvSpPr txBox="1"/>
          <p:nvPr/>
        </p:nvSpPr>
        <p:spPr>
          <a:xfrm>
            <a:off x="477183" y="2164000"/>
            <a:ext cx="1508371" cy="348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50% Automação</a:t>
            </a:r>
            <a:endParaRPr lang="en-GB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Google Shape;203;g109ffa863cd_0_328">
            <a:extLst>
              <a:ext uri="{FF2B5EF4-FFF2-40B4-BE49-F238E27FC236}">
                <a16:creationId xmlns:a16="http://schemas.microsoft.com/office/drawing/2014/main" id="{59BFDB70-9A56-4196-366A-750C744D2889}"/>
              </a:ext>
            </a:extLst>
          </p:cNvPr>
          <p:cNvSpPr txBox="1"/>
          <p:nvPr/>
        </p:nvSpPr>
        <p:spPr>
          <a:xfrm>
            <a:off x="6990661" y="2163999"/>
            <a:ext cx="1508371" cy="348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lnSpc>
                <a:spcPct val="107000"/>
              </a:lnSpc>
              <a:spcAft>
                <a:spcPts val="800"/>
              </a:spcAft>
            </a:pPr>
            <a:r>
              <a:rPr lang="pt-BR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50% </a:t>
            </a:r>
            <a:br>
              <a:rPr lang="pt-BR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Operação</a:t>
            </a:r>
            <a:endParaRPr lang="en-GB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57954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09ffa863cd_0_328"/>
          <p:cNvSpPr txBox="1"/>
          <p:nvPr/>
        </p:nvSpPr>
        <p:spPr>
          <a:xfrm>
            <a:off x="565525" y="1684349"/>
            <a:ext cx="7944818" cy="177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</a:t>
            </a:r>
            <a:r>
              <a:rPr lang="pt-BR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metologia</a:t>
            </a:r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 o processo envolve a colaboração entre os desenvolvedores de software e as equipes de operações de infraestrutura, garantindo que as mudanças de software possam ser implantadas de forma segura e eficiente em ambientes de produção. </a:t>
            </a:r>
            <a:b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metodologia também promove a automação de processos e testes, para garantir uma entrega rápida e consistente, bem como a integração contínua e a entrega contínua (CI/CD).</a:t>
            </a:r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Fundamentos</a:t>
            </a:r>
            <a:r>
              <a:rPr lang="en-US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do DevOps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5" name="Google Shape;205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10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530328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Fundamentos</a:t>
            </a:r>
            <a:r>
              <a:rPr lang="en-US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do DevOps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5" name="Google Shape;205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11</a:t>
            </a:fld>
            <a:r>
              <a:rPr lang="en-US"/>
              <a:t>]</a:t>
            </a:r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FECCC65-F86F-C413-E904-8E128E8635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8108" y="1321387"/>
            <a:ext cx="7235687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907ED659-BD5B-6667-21DB-F79881D0699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41148687"/>
              </p:ext>
            </p:extLst>
          </p:nvPr>
        </p:nvGraphicFramePr>
        <p:xfrm>
          <a:off x="1524000" y="205014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4F0FCD7-1C22-7009-8277-E6BF16BF7620}"/>
              </a:ext>
            </a:extLst>
          </p:cNvPr>
          <p:cNvSpPr txBox="1"/>
          <p:nvPr/>
        </p:nvSpPr>
        <p:spPr>
          <a:xfrm>
            <a:off x="561575" y="3303161"/>
            <a:ext cx="5835936" cy="1569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lnSpc>
                <a:spcPct val="107000"/>
              </a:lnSpc>
              <a:spcAft>
                <a:spcPts val="800"/>
              </a:spcAft>
              <a:defRPr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defRPr>
            </a:lvl1pPr>
          </a:lstStyle>
          <a:p>
            <a:r>
              <a:rPr lang="pt-PT" dirty="0"/>
              <a:t>O DevOps possui um </a:t>
            </a:r>
            <a:r>
              <a:rPr lang="pt-PT" dirty="0" err="1"/>
              <a:t>framework</a:t>
            </a:r>
            <a:r>
              <a:rPr lang="pt-PT" dirty="0"/>
              <a:t> com o acrónimo CALMS.</a:t>
            </a:r>
            <a:br>
              <a:rPr lang="pt-PT" dirty="0"/>
            </a:br>
            <a:br>
              <a:rPr lang="pt-PT" dirty="0"/>
            </a:br>
            <a:r>
              <a:rPr lang="pt-PT" dirty="0"/>
              <a:t>John </a:t>
            </a:r>
            <a:r>
              <a:rPr lang="pt-PT" dirty="0" err="1"/>
              <a:t>Willis</a:t>
            </a:r>
            <a:r>
              <a:rPr lang="pt-PT" dirty="0"/>
              <a:t> e Damon Edwards definiram o acrónimo CAMS para definir o que e DevOps e </a:t>
            </a:r>
            <a:r>
              <a:rPr lang="pt-PT" dirty="0" err="1"/>
              <a:t>Jez</a:t>
            </a:r>
            <a:r>
              <a:rPr lang="pt-PT" dirty="0"/>
              <a:t> </a:t>
            </a:r>
            <a:r>
              <a:rPr lang="pt-PT" dirty="0" err="1"/>
              <a:t>Humble</a:t>
            </a:r>
            <a:r>
              <a:rPr lang="pt-PT" dirty="0"/>
              <a:t> mais tarde introduziu </a:t>
            </a:r>
            <a:r>
              <a:rPr lang="pt-PT" dirty="0" err="1"/>
              <a:t>Lean</a:t>
            </a:r>
            <a:r>
              <a:rPr lang="pt-PT" dirty="0"/>
              <a:t> para completar o </a:t>
            </a:r>
            <a:r>
              <a:rPr lang="pt-PT" dirty="0" err="1"/>
              <a:t>acronimo</a:t>
            </a:r>
            <a:r>
              <a:rPr lang="pt-PT" dirty="0"/>
              <a:t> CALMS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954727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Fundamentos</a:t>
            </a:r>
            <a:r>
              <a:rPr lang="en-US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do DevOps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5" name="Google Shape;205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12</a:t>
            </a:fld>
            <a:r>
              <a:rPr lang="en-US"/>
              <a:t>]</a:t>
            </a:r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FECCC65-F86F-C413-E904-8E128E8635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8108" y="1321387"/>
            <a:ext cx="7235687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A9FF806-9BC1-8E8C-BB3E-064B2A1C3C2C}"/>
              </a:ext>
            </a:extLst>
          </p:cNvPr>
          <p:cNvSpPr txBox="1"/>
          <p:nvPr/>
        </p:nvSpPr>
        <p:spPr>
          <a:xfrm>
            <a:off x="632332" y="1336488"/>
            <a:ext cx="8016900" cy="974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lnSpc>
                <a:spcPct val="107000"/>
              </a:lnSpc>
              <a:spcAft>
                <a:spcPts val="800"/>
              </a:spcAft>
              <a:defRPr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O </a:t>
            </a:r>
            <a:r>
              <a:rPr lang="pt-BR" dirty="0" err="1"/>
              <a:t>devOps</a:t>
            </a:r>
            <a:r>
              <a:rPr lang="pt-BR" dirty="0"/>
              <a:t> tem o principio das 3 maneiras, que são um conjunto de princípios e práticas de alto nível que ditam padrões, processos e comportamentos observados no </a:t>
            </a:r>
            <a:r>
              <a:rPr lang="pt-BR" dirty="0" err="1"/>
              <a:t>DevOps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991435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Fundamentos</a:t>
            </a:r>
            <a:r>
              <a:rPr lang="en-US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do DevOps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5" name="Google Shape;205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13</a:t>
            </a:fld>
            <a:r>
              <a:rPr lang="en-US"/>
              <a:t>]</a:t>
            </a: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A9FF806-9BC1-8E8C-BB3E-064B2A1C3C2C}"/>
              </a:ext>
            </a:extLst>
          </p:cNvPr>
          <p:cNvSpPr txBox="1"/>
          <p:nvPr/>
        </p:nvSpPr>
        <p:spPr>
          <a:xfrm>
            <a:off x="632332" y="1336488"/>
            <a:ext cx="8016900" cy="974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lnSpc>
                <a:spcPct val="107000"/>
              </a:lnSpc>
              <a:spcAft>
                <a:spcPts val="800"/>
              </a:spcAft>
              <a:defRPr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defRPr>
            </a:lvl1pPr>
          </a:lstStyle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Primeira Maneira possui princípios e práticas que potencializam o fluxo rápido de desenvolvimento para operações e clientes</a:t>
            </a:r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54D0489-A7B7-CC8A-930C-5DE370C75C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332" y="2067044"/>
            <a:ext cx="6400274" cy="298599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471962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Fundamentos</a:t>
            </a:r>
            <a:r>
              <a:rPr lang="en-US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do DevOps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5" name="Google Shape;205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14</a:t>
            </a:fld>
            <a:r>
              <a:rPr lang="en-US"/>
              <a:t>]</a:t>
            </a: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A9FF806-9BC1-8E8C-BB3E-064B2A1C3C2C}"/>
              </a:ext>
            </a:extLst>
          </p:cNvPr>
          <p:cNvSpPr txBox="1"/>
          <p:nvPr/>
        </p:nvSpPr>
        <p:spPr>
          <a:xfrm>
            <a:off x="563550" y="1355628"/>
            <a:ext cx="8016900" cy="1173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lnSpc>
                <a:spcPct val="107000"/>
              </a:lnSpc>
              <a:spcAft>
                <a:spcPts val="800"/>
              </a:spcAft>
              <a:defRPr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defRPr>
            </a:lvl1pPr>
          </a:lstStyle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Segunda Maneira possibilita o rápido </a:t>
            </a:r>
            <a:r>
              <a:rPr lang="pt-BR" sz="1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feedback </a:t>
            </a:r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em todos os estágios do fluxo, visando garantir que os problemas sejam identificados e medidas sejam tomadas. As ações de </a:t>
            </a:r>
            <a:r>
              <a:rPr lang="pt-BR" sz="1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feedback </a:t>
            </a:r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 direita para a esquerda possibilitam que problemas sejam encontrados e corrigidos antes que ocorra uma falha com significativo impacto</a:t>
            </a:r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9CBCC0-01B0-AD85-8EE7-A9F4DFB55E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332" y="2507566"/>
            <a:ext cx="5731510" cy="263588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841261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Fundamentos</a:t>
            </a:r>
            <a:r>
              <a:rPr lang="en-US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do DevOps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5" name="Google Shape;205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15</a:t>
            </a:fld>
            <a:r>
              <a:rPr lang="en-US"/>
              <a:t>]</a:t>
            </a: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A9FF806-9BC1-8E8C-BB3E-064B2A1C3C2C}"/>
              </a:ext>
            </a:extLst>
          </p:cNvPr>
          <p:cNvSpPr txBox="1"/>
          <p:nvPr/>
        </p:nvSpPr>
        <p:spPr>
          <a:xfrm>
            <a:off x="563550" y="1355628"/>
            <a:ext cx="8016900" cy="1173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lnSpc>
                <a:spcPct val="107000"/>
              </a:lnSpc>
              <a:spcAft>
                <a:spcPts val="800"/>
              </a:spcAft>
              <a:defRPr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defRPr>
            </a:lvl1pPr>
          </a:lstStyle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Terceira Maneira estabelece a criação de uma cultura de alta confiança, que permite correr riscos e potencializar o aprendizado contínuo. Observe a seguir que o </a:t>
            </a:r>
            <a:r>
              <a:rPr lang="pt-BR" sz="1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loop </a:t>
            </a:r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contínuo de </a:t>
            </a:r>
            <a:r>
              <a:rPr lang="pt-BR" sz="1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feedback </a:t>
            </a:r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incentiva que todos aprendam e melhorem.</a:t>
            </a:r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CEBD58A-20B0-9E00-3C43-65FA0AF452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558" y="2439670"/>
            <a:ext cx="5731510" cy="270383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641552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Fundamentos</a:t>
            </a:r>
            <a:r>
              <a:rPr lang="en-US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do DevOps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5" name="Google Shape;205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16</a:t>
            </a:fld>
            <a:r>
              <a:rPr lang="en-US"/>
              <a:t>]</a:t>
            </a: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35E317-F80C-E32E-B515-721C0F04A3C6}"/>
              </a:ext>
            </a:extLst>
          </p:cNvPr>
          <p:cNvSpPr txBox="1"/>
          <p:nvPr/>
        </p:nvSpPr>
        <p:spPr>
          <a:xfrm>
            <a:off x="628218" y="1537896"/>
            <a:ext cx="2559336" cy="17822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1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 Princípios Chave do </a:t>
            </a:r>
            <a:r>
              <a:rPr lang="pt-BR" sz="12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DevOps</a:t>
            </a:r>
            <a:endParaRPr lang="pt-BR" sz="12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pt-BR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Colaboração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pt-BR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Automação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pt-BR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Melhoria continua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pt-BR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Ação centrada no cliente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pt-BR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Crie com o fim em mente</a:t>
            </a:r>
            <a:endParaRPr lang="en-GB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DB6C3C79-E653-0343-3E17-A61D2F3845D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04" r="4904"/>
          <a:stretch/>
        </p:blipFill>
        <p:spPr bwMode="auto">
          <a:xfrm>
            <a:off x="3073141" y="1473430"/>
            <a:ext cx="4671523" cy="2748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6962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Beneficios</a:t>
            </a:r>
            <a:r>
              <a:rPr lang="en-US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do DevOps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5" name="Google Shape;205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17</a:t>
            </a:fld>
            <a:r>
              <a:rPr lang="en-US"/>
              <a:t>]</a:t>
            </a: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A36547-BC5B-0FA9-93EE-66AF644386F3}"/>
              </a:ext>
            </a:extLst>
          </p:cNvPr>
          <p:cNvSpPr txBox="1"/>
          <p:nvPr/>
        </p:nvSpPr>
        <p:spPr>
          <a:xfrm>
            <a:off x="539884" y="1592392"/>
            <a:ext cx="8016900" cy="1173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lnSpc>
                <a:spcPct val="107000"/>
              </a:lnSpc>
              <a:spcAft>
                <a:spcPts val="800"/>
              </a:spcAft>
              <a:defRPr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defRPr>
            </a:lvl1pPr>
          </a:lstStyle>
          <a:p>
            <a:b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PT" dirty="0"/>
              <a:t>As ferramentas para automação têm uma grande importância para o sucesso do DevOps, porém o principal desafio é criar uma cultura em que todos tornem-se comprometidos pela qualidade, desde o início do ciclo de vida do software até sua entrega em produção e monitoramento da experiência real do usuário. </a:t>
            </a:r>
            <a:endParaRPr lang="en-GB" dirty="0"/>
          </a:p>
          <a:p>
            <a:r>
              <a:rPr lang="pt-BR" dirty="0"/>
              <a:t>Várias empresas alcançaram com a jornada </a:t>
            </a:r>
            <a:r>
              <a:rPr lang="pt-BR" dirty="0" err="1"/>
              <a:t>DevOps</a:t>
            </a:r>
            <a:r>
              <a:rPr lang="pt-BR" dirty="0"/>
              <a:t> em vários países e segmentos de mercado.</a:t>
            </a:r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0973728-E1ED-8236-44CE-E82E57E3D6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068" y="3583356"/>
            <a:ext cx="5111750" cy="116649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68043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Beneficios</a:t>
            </a:r>
            <a:r>
              <a:rPr lang="en-US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do DevOps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5" name="Google Shape;205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18</a:t>
            </a:fld>
            <a:r>
              <a:rPr lang="en-US"/>
              <a:t>]</a:t>
            </a:r>
            <a:endParaRPr/>
          </a:p>
        </p:txBody>
      </p:sp>
      <p:pic>
        <p:nvPicPr>
          <p:cNvPr id="5122" name="Picture 2" descr="How come Amazon deploys 23,000 times a day? What are they changing so  often? : r/devops">
            <a:extLst>
              <a:ext uri="{FF2B5EF4-FFF2-40B4-BE49-F238E27FC236}">
                <a16:creationId xmlns:a16="http://schemas.microsoft.com/office/drawing/2014/main" id="{391C2DFC-76B8-2164-F3C3-E21186DF737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031"/>
          <a:stretch/>
        </p:blipFill>
        <p:spPr bwMode="auto">
          <a:xfrm>
            <a:off x="1072243" y="1578027"/>
            <a:ext cx="6477000" cy="2251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29085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Beneficios</a:t>
            </a:r>
            <a:r>
              <a:rPr lang="en-US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do DevOps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5" name="Google Shape;205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19</a:t>
            </a:fld>
            <a:r>
              <a:rPr lang="en-US"/>
              <a:t>]</a:t>
            </a:r>
            <a:endParaRPr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2231ED02-C088-9654-22A1-7831901F25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5842045E-F890-F5F6-BE00-4B5CF0BDF31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7233208"/>
              </p:ext>
            </p:extLst>
          </p:nvPr>
        </p:nvGraphicFramePr>
        <p:xfrm>
          <a:off x="2220686" y="1395726"/>
          <a:ext cx="3314700" cy="36737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5269680" imgH="5828400" progId="Unknown">
                  <p:embed/>
                </p:oleObj>
              </mc:Choice>
              <mc:Fallback>
                <p:oleObj r:id="rId3" imgW="5269680" imgH="5828400" progId="Unknown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0686" y="1395726"/>
                        <a:ext cx="3314700" cy="367372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04681422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51b35d3-0456-4d6a-bc2f-da927e91d158">
      <Terms xmlns="http://schemas.microsoft.com/office/infopath/2007/PartnerControls"/>
    </lcf76f155ced4ddcb4097134ff3c332f>
    <TaxCatchAll xmlns="19483571-f922-4e8e-9c1c-26f0a2252132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1E48B58A68BE64E9120D347E3E06B3A" ma:contentTypeVersion="18" ma:contentTypeDescription="Create a new document." ma:contentTypeScope="" ma:versionID="8318531fd059d61dd4fee9b82b328379">
  <xsd:schema xmlns:xsd="http://www.w3.org/2001/XMLSchema" xmlns:xs="http://www.w3.org/2001/XMLSchema" xmlns:p="http://schemas.microsoft.com/office/2006/metadata/properties" xmlns:ns2="851b35d3-0456-4d6a-bc2f-da927e91d158" xmlns:ns3="19483571-f922-4e8e-9c1c-26f0a2252132" targetNamespace="http://schemas.microsoft.com/office/2006/metadata/properties" ma:root="true" ma:fieldsID="afb8d3daeaef6f729f9f8c868fd80690" ns2:_="" ns3:_="">
    <xsd:import namespace="851b35d3-0456-4d6a-bc2f-da927e91d158"/>
    <xsd:import namespace="19483571-f922-4e8e-9c1c-26f0a225213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1b35d3-0456-4d6a-bc2f-da927e91d15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44a7fbd4-9dae-4371-bb8c-f658cfc5cb1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3" nillable="true" ma:displayName="Location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9483571-f922-4e8e-9c1c-26f0a225213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a4ca5b0e-bf34-4fb2-bc21-1657b419a556}" ma:internalName="TaxCatchAll" ma:showField="CatchAllData" ma:web="19483571-f922-4e8e-9c1c-26f0a225213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42222EA-95A6-4A03-8019-C3F3BDAED62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B36EE4A-77CB-40F8-99E6-2229B4F7F44C}">
  <ds:schemaRefs>
    <ds:schemaRef ds:uri="http://schemas.microsoft.com/office/2006/metadata/properties"/>
    <ds:schemaRef ds:uri="http://schemas.microsoft.com/office/infopath/2007/PartnerControls"/>
    <ds:schemaRef ds:uri="851b35d3-0456-4d6a-bc2f-da927e91d158"/>
    <ds:schemaRef ds:uri="19483571-f922-4e8e-9c1c-26f0a2252132"/>
  </ds:schemaRefs>
</ds:datastoreItem>
</file>

<file path=customXml/itemProps3.xml><?xml version="1.0" encoding="utf-8"?>
<ds:datastoreItem xmlns:ds="http://schemas.openxmlformats.org/officeDocument/2006/customXml" ds:itemID="{79C7BB9B-5D61-426C-BECD-CD82EA3CC726}"/>
</file>

<file path=docProps/app.xml><?xml version="1.0" encoding="utf-8"?>
<Properties xmlns="http://schemas.openxmlformats.org/officeDocument/2006/extended-properties" xmlns:vt="http://schemas.openxmlformats.org/officeDocument/2006/docPropsVTypes">
  <TotalTime>6673</TotalTime>
  <Words>723</Words>
  <Application>Microsoft Office PowerPoint</Application>
  <PresentationFormat>Apresentação na tela (16:9)</PresentationFormat>
  <Paragraphs>72</Paragraphs>
  <Slides>19</Slides>
  <Notes>19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19</vt:i4>
      </vt:variant>
    </vt:vector>
  </HeadingPairs>
  <TitlesOfParts>
    <vt:vector size="20" baseType="lpstr">
      <vt:lpstr>Simple Light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Larissa Mestieri</dc:creator>
  <cp:lastModifiedBy>Alexsandro Lechner</cp:lastModifiedBy>
  <cp:revision>93</cp:revision>
  <dcterms:modified xsi:type="dcterms:W3CDTF">2023-07-17T17:43:54Z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0x01010001E48B58A68BE64E9120D347E3E06B3A</vt:lpwstr>
  </property>
  <property fmtid="{D5CDD505-2E9C-101B-9397-08002B2CF9AE}" pid="3" name="MediaServiceImageTags">
    <vt:lpwstr/>
  </property>
</Properties>
</file>