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1"/>
  </p:notesMasterIdLst>
  <p:sldIdLst>
    <p:sldId id="265" r:id="rId5"/>
    <p:sldId id="292" r:id="rId6"/>
    <p:sldId id="294" r:id="rId7"/>
    <p:sldId id="295" r:id="rId8"/>
    <p:sldId id="296" r:id="rId9"/>
    <p:sldId id="293" r:id="rId1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1755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164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125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538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273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3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DevOps Fundamentals</a:t>
            </a:r>
          </a:p>
          <a:p>
            <a:r>
              <a:rPr lang="en-US" sz="20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Alexsandro Lechner</a:t>
            </a:r>
            <a:r>
              <a:rPr lang="en-US" sz="24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 </a:t>
            </a:r>
            <a:endParaRPr lang="pt-BR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565523" y="870463"/>
            <a:ext cx="7410300" cy="7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PT" sz="2400" b="1" dirty="0">
                <a:solidFill>
                  <a:srgbClr val="EA4E60"/>
                </a:solidFill>
                <a:latin typeface="Century Gothic"/>
              </a:rPr>
              <a:t>Tema</a:t>
            </a:r>
            <a:endParaRPr sz="24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Entendendo o conceito de 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CI/CD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1964B6-F15C-06B4-C0D3-8148BB26F7DE}"/>
              </a:ext>
            </a:extLst>
          </p:cNvPr>
          <p:cNvGrpSpPr/>
          <p:nvPr/>
        </p:nvGrpSpPr>
        <p:grpSpPr>
          <a:xfrm>
            <a:off x="671660" y="4443062"/>
            <a:ext cx="1748642" cy="398700"/>
            <a:chOff x="3899066" y="4462016"/>
            <a:chExt cx="1748642" cy="398700"/>
          </a:xfrm>
        </p:grpSpPr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96448E7-58D9-CBFC-8973-DCFA8A84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066" y="4547507"/>
              <a:ext cx="290695" cy="290695"/>
            </a:xfrm>
            <a:prstGeom prst="rect">
              <a:avLst/>
            </a:prstGeom>
          </p:spPr>
        </p:pic>
        <p:sp>
          <p:nvSpPr>
            <p:cNvPr id="4" name="Google Shape;194;p5">
              <a:extLst>
                <a:ext uri="{FF2B5EF4-FFF2-40B4-BE49-F238E27FC236}">
                  <a16:creationId xmlns:a16="http://schemas.microsoft.com/office/drawing/2014/main" id="{2F74E707-5F49-4487-4C01-EAE6851CF06F}"/>
                </a:ext>
              </a:extLst>
            </p:cNvPr>
            <p:cNvSpPr txBox="1"/>
            <p:nvPr/>
          </p:nvSpPr>
          <p:spPr>
            <a:xfrm>
              <a:off x="4124447" y="4462016"/>
              <a:ext cx="1523261" cy="39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dirty="0" err="1">
                  <a:solidFill>
                    <a:srgbClr val="A5A5A5"/>
                  </a:solidFill>
                  <a:latin typeface="Calibri"/>
                  <a:cs typeface="Calibri"/>
                  <a:sym typeface="Calibri"/>
                </a:rPr>
                <a:t>alexsandrolechner</a:t>
              </a:r>
              <a:endParaRPr lang="pt-BR" sz="1000" dirty="0"/>
            </a:p>
          </p:txBody>
        </p:sp>
      </p:grpSp>
      <p:pic>
        <p:nvPicPr>
          <p:cNvPr id="2" name="Picture 1" descr="A picture containing qr code&#10;&#10;Description automatically generated">
            <a:extLst>
              <a:ext uri="{FF2B5EF4-FFF2-40B4-BE49-F238E27FC236}">
                <a16:creationId xmlns:a16="http://schemas.microsoft.com/office/drawing/2014/main" id="{41C3A84F-0F18-C71A-77F3-F6FBA98FF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461" y="4097996"/>
            <a:ext cx="1445078" cy="731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5"/>
            <a:ext cx="8016900" cy="136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Entendendo o conceito de 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CI/CD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1592392"/>
            <a:ext cx="8016900" cy="347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PT" sz="1800" dirty="0">
                <a:effectLst/>
                <a:cs typeface="Calibri" panose="020F0502020204030204" pitchFamily="34" charset="0"/>
              </a:rPr>
              <a:t>CI/CD significa Integração Contínua (</a:t>
            </a:r>
            <a:r>
              <a:rPr lang="pt-PT" sz="1800" dirty="0" err="1">
                <a:effectLst/>
                <a:cs typeface="Calibri" panose="020F0502020204030204" pitchFamily="34" charset="0"/>
              </a:rPr>
              <a:t>Continuous</a:t>
            </a:r>
            <a:r>
              <a:rPr lang="pt-PT" sz="1800" dirty="0">
                <a:effectLst/>
                <a:cs typeface="Calibri" panose="020F0502020204030204" pitchFamily="34" charset="0"/>
              </a:rPr>
              <a:t> </a:t>
            </a:r>
            <a:r>
              <a:rPr lang="pt-PT" sz="1800" dirty="0" err="1">
                <a:effectLst/>
                <a:cs typeface="Calibri" panose="020F0502020204030204" pitchFamily="34" charset="0"/>
              </a:rPr>
              <a:t>Integration</a:t>
            </a:r>
            <a:r>
              <a:rPr lang="pt-PT" sz="1800" dirty="0">
                <a:effectLst/>
                <a:cs typeface="Calibri" panose="020F0502020204030204" pitchFamily="34" charset="0"/>
              </a:rPr>
              <a:t>) e Entrega Contínua (</a:t>
            </a:r>
            <a:r>
              <a:rPr lang="pt-PT" sz="1800" dirty="0" err="1">
                <a:effectLst/>
                <a:cs typeface="Calibri" panose="020F0502020204030204" pitchFamily="34" charset="0"/>
              </a:rPr>
              <a:t>Continuous</a:t>
            </a:r>
            <a:r>
              <a:rPr lang="pt-PT" sz="1800" dirty="0">
                <a:effectLst/>
                <a:cs typeface="Calibri" panose="020F0502020204030204" pitchFamily="34" charset="0"/>
              </a:rPr>
              <a:t> </a:t>
            </a:r>
            <a:r>
              <a:rPr lang="pt-PT" sz="1800" dirty="0" err="1">
                <a:effectLst/>
                <a:cs typeface="Calibri" panose="020F0502020204030204" pitchFamily="34" charset="0"/>
              </a:rPr>
              <a:t>Delivery</a:t>
            </a:r>
            <a:r>
              <a:rPr lang="pt-PT" sz="1800" dirty="0">
                <a:effectLst/>
                <a:cs typeface="Calibri" panose="020F0502020204030204" pitchFamily="34" charset="0"/>
              </a:rPr>
              <a:t>). </a:t>
            </a:r>
            <a:endParaRPr lang="en-GB" sz="1800" dirty="0">
              <a:effectLst/>
              <a:cs typeface="Calibri" panose="020F0502020204030204" pitchFamily="34" charset="0"/>
            </a:endParaRPr>
          </a:p>
          <a:p>
            <a:pPr fontAlgn="base"/>
            <a:r>
              <a:rPr lang="pt-PT" sz="1800" dirty="0">
                <a:effectLst/>
                <a:cs typeface="Calibri" panose="020F0502020204030204" pitchFamily="34" charset="0"/>
              </a:rPr>
              <a:t>Isto trata-se de uma prática de desenvolvimento de software que tornar a integração de código mais eficiente por meio de </a:t>
            </a:r>
            <a:r>
              <a:rPr lang="pt-PT" sz="1800" dirty="0" err="1">
                <a:effectLst/>
                <a:cs typeface="Calibri" panose="020F0502020204030204" pitchFamily="34" charset="0"/>
              </a:rPr>
              <a:t>builds</a:t>
            </a:r>
            <a:r>
              <a:rPr lang="pt-PT" sz="1800" dirty="0">
                <a:effectLst/>
                <a:cs typeface="Calibri" panose="020F0502020204030204" pitchFamily="34" charset="0"/>
              </a:rPr>
              <a:t> e testes automatizados.</a:t>
            </a:r>
            <a:br>
              <a:rPr lang="pt-PT" sz="1800" dirty="0">
                <a:effectLst/>
                <a:cs typeface="Calibri" panose="020F0502020204030204" pitchFamily="34" charset="0"/>
              </a:rPr>
            </a:br>
            <a:br>
              <a:rPr lang="pt-PT" sz="1800" dirty="0">
                <a:effectLst/>
                <a:cs typeface="Calibri" panose="020F0502020204030204" pitchFamily="34" charset="0"/>
              </a:rPr>
            </a:br>
            <a:r>
              <a:rPr lang="pt-PT" sz="1800" dirty="0">
                <a:effectLst/>
                <a:cs typeface="Calibri" panose="020F0502020204030204" pitchFamily="34" charset="0"/>
              </a:rPr>
              <a:t> </a:t>
            </a:r>
            <a:endParaRPr lang="en-GB" sz="1800" dirty="0">
              <a:effectLst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0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5"/>
            <a:ext cx="8016900" cy="136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Entendendo o conceito de 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CI/CD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48051" y="1503336"/>
            <a:ext cx="8016900" cy="1888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PT" sz="1800" b="1" dirty="0">
                <a:effectLst/>
                <a:cs typeface="Calibri" panose="020F0502020204030204" pitchFamily="34" charset="0"/>
              </a:rPr>
              <a:t>CI (</a:t>
            </a:r>
            <a:r>
              <a:rPr lang="pt-PT" sz="1800" b="1" dirty="0" err="1">
                <a:effectLst/>
                <a:cs typeface="Calibri" panose="020F0502020204030204" pitchFamily="34" charset="0"/>
              </a:rPr>
              <a:t>Continuous</a:t>
            </a:r>
            <a:r>
              <a:rPr lang="pt-PT" sz="1800" b="1" dirty="0">
                <a:effectLst/>
                <a:cs typeface="Calibri" panose="020F0502020204030204" pitchFamily="34" charset="0"/>
              </a:rPr>
              <a:t> </a:t>
            </a:r>
            <a:r>
              <a:rPr lang="pt-PT" sz="1800" b="1" dirty="0" err="1">
                <a:effectLst/>
                <a:cs typeface="Calibri" panose="020F0502020204030204" pitchFamily="34" charset="0"/>
              </a:rPr>
              <a:t>Integration</a:t>
            </a:r>
            <a:r>
              <a:rPr lang="pt-PT" sz="1800" b="1" dirty="0">
                <a:effectLst/>
                <a:cs typeface="Calibri" panose="020F0502020204030204" pitchFamily="34" charset="0"/>
              </a:rPr>
              <a:t>): </a:t>
            </a:r>
            <a:r>
              <a:rPr lang="pt-PT" sz="1800" dirty="0">
                <a:effectLst/>
                <a:cs typeface="Calibri" panose="020F0502020204030204" pitchFamily="34" charset="0"/>
              </a:rPr>
              <a:t> é usado durante a fase de construção e teste onde os desenvolvedores mesclam o seu código em um repositório várias vezes ao dia. </a:t>
            </a:r>
            <a:br>
              <a:rPr lang="pt-PT" sz="1800" dirty="0">
                <a:effectLst/>
                <a:cs typeface="Calibri" panose="020F0502020204030204" pitchFamily="34" charset="0"/>
              </a:rPr>
            </a:br>
            <a:br>
              <a:rPr lang="pt-PT" sz="1800" dirty="0">
                <a:effectLst/>
                <a:cs typeface="Calibri" panose="020F0502020204030204" pitchFamily="34" charset="0"/>
              </a:rPr>
            </a:br>
            <a:r>
              <a:rPr lang="pt-PT" sz="1800" b="1" dirty="0">
                <a:effectLst/>
                <a:cs typeface="Calibri" panose="020F0502020204030204" pitchFamily="34" charset="0"/>
              </a:rPr>
              <a:t>CD (</a:t>
            </a:r>
            <a:r>
              <a:rPr lang="pt-PT" sz="1800" b="1" dirty="0" err="1">
                <a:effectLst/>
                <a:cs typeface="Calibri" panose="020F0502020204030204" pitchFamily="34" charset="0"/>
              </a:rPr>
              <a:t>Continuous</a:t>
            </a:r>
            <a:r>
              <a:rPr lang="pt-PT" sz="1800" b="1" dirty="0">
                <a:effectLst/>
                <a:cs typeface="Calibri" panose="020F0502020204030204" pitchFamily="34" charset="0"/>
              </a:rPr>
              <a:t> </a:t>
            </a:r>
            <a:r>
              <a:rPr lang="pt-PT" sz="1800" b="1" dirty="0" err="1">
                <a:effectLst/>
                <a:cs typeface="Calibri" panose="020F0502020204030204" pitchFamily="34" charset="0"/>
              </a:rPr>
              <a:t>Delivery</a:t>
            </a:r>
            <a:r>
              <a:rPr lang="pt-PT" sz="1800" b="1" dirty="0">
                <a:effectLst/>
                <a:cs typeface="Calibri" panose="020F0502020204030204" pitchFamily="34" charset="0"/>
              </a:rPr>
              <a:t>):</a:t>
            </a:r>
            <a:r>
              <a:rPr lang="pt-PT" sz="1800" dirty="0">
                <a:effectLst/>
                <a:cs typeface="Calibri" panose="020F0502020204030204" pitchFamily="34" charset="0"/>
              </a:rPr>
              <a:t> é usado assim que as alterações são confirmadas e que já passaram pela Integração Contínua (CI) são empacotados automaticamente e prontos para serem implementados no ambiente.</a:t>
            </a:r>
            <a:endParaRPr lang="en-GB" sz="1800" dirty="0">
              <a:effectLst/>
              <a:cs typeface="Calibri" panose="020F0502020204030204" pitchFamily="34" charset="0"/>
            </a:endParaRPr>
          </a:p>
          <a:p>
            <a:pPr fontAlgn="base"/>
            <a:r>
              <a:rPr lang="pt-PT" sz="1800" dirty="0">
                <a:effectLst/>
                <a:cs typeface="Calibri" panose="020F0502020204030204" pitchFamily="34" charset="0"/>
              </a:rPr>
              <a:t> </a:t>
            </a:r>
            <a:endParaRPr lang="en-GB" sz="1800" dirty="0">
              <a:effectLst/>
              <a:cs typeface="Calibri" panose="020F0502020204030204" pitchFamily="34" charset="0"/>
            </a:endParaRPr>
          </a:p>
        </p:txBody>
      </p:sp>
      <p:pic>
        <p:nvPicPr>
          <p:cNvPr id="2" name="Picture 1" descr="A picture containing text, font, logo, screenshot&#10;&#10;Description automatically generated">
            <a:extLst>
              <a:ext uri="{FF2B5EF4-FFF2-40B4-BE49-F238E27FC236}">
                <a16:creationId xmlns:a16="http://schemas.microsoft.com/office/drawing/2014/main" id="{FDCD86D3-392F-2979-8D97-5DD2F9810B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82"/>
          <a:stretch/>
        </p:blipFill>
        <p:spPr bwMode="auto">
          <a:xfrm>
            <a:off x="2083494" y="3411345"/>
            <a:ext cx="4946015" cy="17011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058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5"/>
            <a:ext cx="8016900" cy="136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Entendendo o conceito de 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CI/CD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0AE2D5-1D40-99C3-AB30-CD50B6D58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031" y="1618278"/>
            <a:ext cx="5786606" cy="18205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15FE8E-CC42-04F0-1F13-0EA905FF2C03}"/>
              </a:ext>
            </a:extLst>
          </p:cNvPr>
          <p:cNvSpPr txBox="1"/>
          <p:nvPr/>
        </p:nvSpPr>
        <p:spPr>
          <a:xfrm>
            <a:off x="563549" y="3464762"/>
            <a:ext cx="8016900" cy="128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Simplificando, integração continua é a prática de mesclar as cópias de trabalho de código de cada desenvolvedor em um linha principal compartilhada várias vezes ao longo do dia. Enquanto a entrega contínua refere-se à entrega regular e frequente de funcionalidades de software.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618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5"/>
            <a:ext cx="8016900" cy="136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Entendendo o conceito de 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CI/CD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0AE2D5-1D40-99C3-AB30-CD50B6D58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031" y="1618278"/>
            <a:ext cx="5786606" cy="18205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15FE8E-CC42-04F0-1F13-0EA905FF2C03}"/>
              </a:ext>
            </a:extLst>
          </p:cNvPr>
          <p:cNvSpPr txBox="1"/>
          <p:nvPr/>
        </p:nvSpPr>
        <p:spPr>
          <a:xfrm>
            <a:off x="563549" y="3464762"/>
            <a:ext cx="8016900" cy="128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Simplificando, integração continua é a prática de mesclar as cópias de trabalho de código de cada desenvolvedor em um linha principal compartilhada várias vezes ao longo do dia. Enquanto a entrega contínua refere-se à entrega regular e frequente de funcionalidades de software.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19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39884" y="227755"/>
            <a:ext cx="8016900" cy="136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Entendendo o conceito de 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CI/CD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36547-BC5B-0FA9-93EE-66AF644386F3}"/>
              </a:ext>
            </a:extLst>
          </p:cNvPr>
          <p:cNvSpPr txBox="1"/>
          <p:nvPr/>
        </p:nvSpPr>
        <p:spPr>
          <a:xfrm>
            <a:off x="539884" y="1592393"/>
            <a:ext cx="8016900" cy="161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07000"/>
              </a:lnSpc>
              <a:spcAft>
                <a:spcPts val="800"/>
              </a:spcAft>
              <a:defRPr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defRPr>
            </a:lvl1pPr>
          </a:lstStyle>
          <a:p>
            <a:pPr fontAlgn="base"/>
            <a:r>
              <a:rPr lang="pt-PT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Pipelines:</a:t>
            </a:r>
            <a:b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Já pipelines faz parte de uma série de etapas automatizadas no desenvolvimento e implantação de software e o objetivo do pipeline é automatizar o processo de desenvolvimento e entrega de software, desde a compilação do código-fonte até a implantação em produção.</a:t>
            </a:r>
            <a:br>
              <a:rPr lang="pt-PT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9401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8" ma:contentTypeDescription="Create a new document." ma:contentTypeScope="" ma:versionID="8318531fd059d61dd4fee9b82b328379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6CCEFC-9F8E-4574-9860-0A6377B1A950}"/>
</file>

<file path=customXml/itemProps2.xml><?xml version="1.0" encoding="utf-8"?>
<ds:datastoreItem xmlns:ds="http://schemas.openxmlformats.org/officeDocument/2006/customXml" ds:itemID="{5B36EE4A-77CB-40F8-99E6-2229B4F7F44C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F42222EA-95A6-4A03-8019-C3F3BDAED6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8755</TotalTime>
  <Words>317</Words>
  <Application>Microsoft Office PowerPoint</Application>
  <PresentationFormat>On-screen Show (16:9)</PresentationFormat>
  <Paragraphs>22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119</cp:revision>
  <dcterms:modified xsi:type="dcterms:W3CDTF">2023-05-09T16:55:35Z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